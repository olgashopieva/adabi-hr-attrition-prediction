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kaggle.com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L'obiettivo del mio progetto è prevedere se un dipendente lascerà l’azienda. Ho usato i dati da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kaggle.com</a:t>
            </a:r>
            <a:r>
              <a:rPr lang="en-US"/>
              <a:t>.  Sono i dati fittizi creati dai Data Scientists di IBM.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Il dataset ha 1.470 osservazioni e 35 colonne, senza valori mancanti, con informazioni anagrafiche, professionali e di soddisfazione. La variabile target è sbilanciata: 84% No e solo 16% Ye 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 ridotto le feature da 35 a 28, eliminando colonne costanti, identificativi come EmployeeNumber e variabili ridondanti con MonthlyIncome, per evitare rumore e data leakage </a:t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Dall'EDA emergono tre pattern: chi lascia è più giovane e con reddito più basso, l'OverTime è un segnale forte, ma nessuna correlazione singola supera 0.20 — serve combinare più fattori </a:t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 applicato uno split stratificato 80/20, One-Hot Encoding che porta le feature da 28 a 41, standardizzazione per la Regressione Logistica, e class_weight bilanciato per compensare lo sbilanciamento. </a:t>
            </a:r>
            <a:endParaRPr/>
          </a:p>
        </p:txBody>
      </p:sp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 confrontato Regressione Logistica e Random Forest, ottimizzando la soglia di decisione con cross-validation 5-fold: soglia 0.6 per la prima, 0.2 per la seconda, in base al miglior F1-score </a:t>
            </a:r>
            <a:endParaRPr/>
          </a:p>
        </p:txBody>
      </p:sp>
      <p:sp>
        <p:nvSpPr>
          <p:cNvPr id="246" name="Google Shape;2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Sul test set la Regressione Logistica vince con il miglior equilibrio: 82.7% di accuracy e ROC-AUC di 81.7%, contro 78.2% e  del Random Forest. </a:t>
            </a:r>
            <a:endParaRPr/>
          </a:p>
        </p:txBody>
      </p:sp>
      <p:sp>
        <p:nvSpPr>
          <p:cNvPr id="298" name="Google Shape;2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Come sviluppi futuri propongo tuning degli iperparametri, modelli più avanzati come XGBoost e nuovo feature engineering; il limite principale resta il recall sulla classe minoritaria, utile per un sistema di early warning HR </a:t>
            </a:r>
            <a:endParaRPr/>
          </a:p>
        </p:txBody>
      </p:sp>
      <p:sp>
        <p:nvSpPr>
          <p:cNvPr id="347" name="Google Shape;3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 questo progetto ho usato Google Gemini per le immagini, Claude Sonnet per il codice del notebook e Replit per costruire la presentazione. Ho specificato tutti i prompt nel file su GitHub.</a:t>
            </a:r>
            <a:endParaRPr/>
          </a:p>
        </p:txBody>
      </p:sp>
      <p:sp>
        <p:nvSpPr>
          <p:cNvPr id="400" name="Google Shape;4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olgashopieva.github.io/" TargetMode="External"/><Relationship Id="rId4" Type="http://schemas.openxmlformats.org/officeDocument/2006/relationships/hyperlink" Target="https://github.com/OlgaShopieva/adabi-hr-attrition-prediction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colab.research.google.com/drive/1tQPxiFkxnX9QvUwgBJ0BEzQ1fWpRzUFV?usp=sharing" TargetMode="External"/><Relationship Id="rId6" Type="http://schemas.openxmlformats.org/officeDocument/2006/relationships/hyperlink" Target="https://www.kaggle.com/datasets/pavansubhasht/ibm-hr-analytics-attrition-dataset/data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://replit.com" TargetMode="External"/><Relationship Id="rId6" Type="http://schemas.openxmlformats.org/officeDocument/2006/relationships/hyperlink" Target="https://github.com/OlgaShopieva/adabi-hr-attrition-prediction/blob/main/AI_Usati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14170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862664" y="238051"/>
            <a:ext cx="12474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45" y="1221209"/>
            <a:ext cx="197527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CLASSIFICAZIONE 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45" y="1411114"/>
            <a:ext cx="3320519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Progetto ML: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45" y="1863775"/>
            <a:ext cx="408717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IBM HR Attrition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50" y="2441150"/>
            <a:ext cx="43950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70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10"/>
              <a:buFont typeface="Inter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Prevedere se un dipendente lascerà l'azienda — un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70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10"/>
              <a:buFont typeface="Inter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problema di classificazione applicato al</a:t>
            </a:r>
            <a:r>
              <a:rPr b="0" i="0" lang="en-US" sz="111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IBM HR Analytics.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56025" y="3383375"/>
            <a:ext cx="45222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Gruppo: ADABI 2025-2026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Olga Shopieva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portfolio GitHub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Progetto su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GitHub </a:t>
            </a:r>
            <a:r>
              <a:rPr b="1" lang="en-US" sz="151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(+attività AWS)</a:t>
            </a:r>
            <a:b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Colab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Notebook</a:t>
            </a: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Dataset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771977" y="3042121"/>
            <a:ext cx="51665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1.233 No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994178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0173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18116" y="4823892"/>
            <a:ext cx="26533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020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70850" y="568413"/>
            <a:ext cx="3320525" cy="4105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775028" y="238051"/>
            <a:ext cx="12983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STRUTTURA DEI DATI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45" y="1205954"/>
            <a:ext cx="87052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IL DATASET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45" y="1400621"/>
            <a:ext cx="189972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Il Dataset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45" y="1893615"/>
            <a:ext cx="4529651" cy="333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2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9"/>
              <a:buFont typeface="Inter"/>
              <a:buNone/>
            </a:pPr>
            <a:r>
              <a:rPr b="0" i="0" lang="en-US" sz="94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Ogni riga rappresenta un dipendente con informazioni su età,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42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9"/>
              <a:buFont typeface="Inter"/>
              <a:buNone/>
            </a:pPr>
            <a:r>
              <a:rPr b="0" i="0" lang="en-US" sz="94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stipendio, ruolo, soddisfazione e molto altro.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261" y="24094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34070" y="25165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6509" y="2579787"/>
            <a:ext cx="12380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46472" y="2520702"/>
            <a:ext cx="973552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Dati anagrafici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46472" y="2682255"/>
            <a:ext cx="208265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Age, Gender, MaritalStatus, Education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65261" y="29777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4070" y="30848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4752" y="3148087"/>
            <a:ext cx="1544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46472" y="3089002"/>
            <a:ext cx="115580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Dati professionali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46472" y="3250555"/>
            <a:ext cx="272083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JobRole, Department, JobLevel, YearsAtCompany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65261" y="35460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4070" y="36531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33785" y="3716387"/>
            <a:ext cx="1568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46472" y="3657302"/>
            <a:ext cx="168873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Soddisfazione e stipendio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946472" y="3818855"/>
            <a:ext cx="235352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JobSatisfaction, MonthlyIncome, OverTime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389" y="861492"/>
            <a:ext cx="4024312" cy="134302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099594" y="1030784"/>
            <a:ext cx="133390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OSSERVAZIONI TOTALI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941040" y="1262807"/>
            <a:ext cx="165101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1.470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8693" y="1917129"/>
            <a:ext cx="9957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righe nel dataset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54835" y="2306352"/>
            <a:ext cx="1943100" cy="904875"/>
          </a:xfrm>
          <a:prstGeom prst="roundRect">
            <a:avLst>
              <a:gd fmla="val 101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48527" y="2449488"/>
            <a:ext cx="55564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COLONNE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34113" y="2640434"/>
            <a:ext cx="58447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835118" y="2306352"/>
            <a:ext cx="1943100" cy="904875"/>
          </a:xfrm>
          <a:prstGeom prst="roundRect">
            <a:avLst>
              <a:gd fmla="val 101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02780" y="2449488"/>
            <a:ext cx="1007700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VALORI MANCANTI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637785" y="2640434"/>
            <a:ext cx="337691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313807"/>
            <a:ext cx="4024312" cy="105251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76" name="Google Shape;76;p4"/>
          <p:cNvSpPr/>
          <p:nvPr/>
        </p:nvSpPr>
        <p:spPr>
          <a:xfrm>
            <a:off x="4937671" y="3451920"/>
            <a:ext cx="112649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VARIABILE TARGET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937671" y="3615333"/>
            <a:ext cx="197992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Attrition (Yes / 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37671" y="3925044"/>
            <a:ext cx="54267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Classe No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937671" y="4051102"/>
            <a:ext cx="1097764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84% · 1.233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20978" y="3925044"/>
            <a:ext cx="579053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Classe Yes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920978" y="4051102"/>
            <a:ext cx="90602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16% · 237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977583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485138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601521" y="4823892"/>
            <a:ext cx="28690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13" y="-42775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810301" y="238051"/>
            <a:ext cx="12524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PREPARAZIONE DATI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45" y="1270695"/>
            <a:ext cx="178180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PULIZIA DELLE FEATURE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65745" y="1465362"/>
            <a:ext cx="289990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Colonne eliminate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45" y="1787203"/>
            <a:ext cx="2478025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 motivazioni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745" y="2224236"/>
            <a:ext cx="48051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 le colonne non informative per evitare rumore e data leakage.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261" y="2508796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7653" y="2600771"/>
            <a:ext cx="88068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Valori costanti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07653" y="2753320"/>
            <a:ext cx="219970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EmployeeCount, Over18, StandardHours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261" y="3016969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07653" y="3108945"/>
            <a:ext cx="16599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Identificativo (data leakage)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7653" y="3261494"/>
            <a:ext cx="100692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EmployeeNumber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65261" y="3525143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07653" y="3617119"/>
            <a:ext cx="184322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Ridondanti con MonthlyIncome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07653" y="3769668"/>
            <a:ext cx="194770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DailyRate, HourlyRate, MonthlyRate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54389" y="1240222"/>
            <a:ext cx="4024312" cy="1671638"/>
          </a:xfrm>
          <a:prstGeom prst="roundRect">
            <a:avLst>
              <a:gd fmla="val 547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88198" y="1413272"/>
            <a:ext cx="139542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Feature prima e dopo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865510" y="1817489"/>
            <a:ext cx="747474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788979" y="2387129"/>
            <a:ext cx="90061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colonne originali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746528" y="2017291"/>
            <a:ext cx="256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973662" y="1817489"/>
            <a:ext cx="753472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996310" y="2387129"/>
            <a:ext cx="70810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feature finali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040710" y="2679464"/>
            <a:ext cx="276225" cy="23812"/>
          </a:xfrm>
          <a:prstGeom prst="roundRect">
            <a:avLst>
              <a:gd fmla="val 40001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7348" y="2639169"/>
            <a:ext cx="99096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 colonne eliminate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216080" y="2679464"/>
            <a:ext cx="276225" cy="23812"/>
          </a:xfrm>
          <a:prstGeom prst="roundRect">
            <a:avLst>
              <a:gd fmla="val 40001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016039"/>
            <a:ext cx="4024312" cy="97155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124" name="Google Shape;124;p5"/>
          <p:cNvSpPr/>
          <p:nvPr/>
        </p:nvSpPr>
        <p:spPr>
          <a:xfrm>
            <a:off x="4937671" y="3153073"/>
            <a:ext cx="160302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TRASFORMAZIONE TARGET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117087" y="3332708"/>
            <a:ext cx="6601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Attrition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6242" y="3520455"/>
            <a:ext cx="138188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"Yes" / "No"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00116" y="3753073"/>
            <a:ext cx="29406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testo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139532" y="3475881"/>
            <a:ext cx="256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377438" y="3332708"/>
            <a:ext cx="6601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Attrition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68480" y="3520455"/>
            <a:ext cx="477962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 /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54646" y="3753073"/>
            <a:ext cx="50562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numerico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976765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484319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600703" y="4823892"/>
            <a:ext cx="28796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7751" y="1398687"/>
            <a:ext cx="3557588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730603" y="238051"/>
            <a:ext cx="13560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ANALISI ESPLORATIVA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45" y="1362075"/>
            <a:ext cx="2093104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ANALISI ESPLORATIVA (EDA)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45" y="1556742"/>
            <a:ext cx="375545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Chi lascia l'azienda?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5745" y="1993776"/>
            <a:ext cx="4326017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 pattern emergono con chiarezza dall'analisi del training set.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261" y="2279712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35037" y="2385789"/>
            <a:ext cx="13304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Eta e reddito piu bassi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35037" y="2543473"/>
            <a:ext cx="468685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 dipendenti che partono tendono ad essere piu giovani e con MonthlyIncome inferiore.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5261" y="2839380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35037" y="2945457"/>
            <a:ext cx="1652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Straordinario come segnale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35037" y="3103141"/>
            <a:ext cx="396324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OverTime = Yes e fortemente associato a un tasso di Attrition piu elevato.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261" y="3399048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35037" y="3505126"/>
            <a:ext cx="11497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Correlazioni deboli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5037" y="3662809"/>
            <a:ext cx="447615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Nessuna variabile numerica ha |r| &gt; 0.20: necessaria la combinazione di piu fattori.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54389" y="649784"/>
            <a:ext cx="4024312" cy="3929063"/>
          </a:xfrm>
          <a:prstGeom prst="roundRect">
            <a:avLst>
              <a:gd fmla="val 2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988198" y="823689"/>
            <a:ext cx="167829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Correlazione con Attrition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988198" y="995511"/>
            <a:ext cx="212028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Correlazione di Pearson (valori numerici)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988198" y="1221804"/>
            <a:ext cx="140152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CORRELAZIONE POSITIVA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988198" y="1389757"/>
            <a:ext cx="105442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DistanceFromHome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359835" y="1403821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360356" y="1403821"/>
            <a:ext cx="781050" cy="76200"/>
          </a:xfrm>
          <a:prstGeom prst="roundRect">
            <a:avLst>
              <a:gd fmla="val 36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178277" y="1389757"/>
            <a:ext cx="36661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+0.09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88198" y="1554287"/>
            <a:ext cx="125109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NumCompaniesWorked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359835" y="1568351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358979" y="1568351"/>
            <a:ext cx="438150" cy="76200"/>
          </a:xfrm>
          <a:prstGeom prst="roundRect">
            <a:avLst>
              <a:gd fmla="val 36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181179" y="1554287"/>
            <a:ext cx="36371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+0.05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988198" y="1780580"/>
            <a:ext cx="1440314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CORRELAZIONE NEGATIVA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988198" y="1948532"/>
            <a:ext cx="100692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TotalWorkingYears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359835" y="1962596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360430" y="1962596"/>
            <a:ext cx="1690688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32257" y="1948532"/>
            <a:ext cx="31263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988198" y="2113062"/>
            <a:ext cx="25884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59835" y="2127126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360840" y="2127126"/>
            <a:ext cx="1671638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232257" y="2113062"/>
            <a:ext cx="31263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988198" y="2277591"/>
            <a:ext cx="124045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YearsWithCurrManager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359835" y="2291655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359091" y="2291655"/>
            <a:ext cx="1547813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239028" y="2277591"/>
            <a:ext cx="30586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988198" y="2442121"/>
            <a:ext cx="86094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JobInvolvement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359835" y="2456185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358979" y="2456185"/>
            <a:ext cx="1147763" cy="76200"/>
          </a:xfrm>
          <a:prstGeom prst="roundRect">
            <a:avLst>
              <a:gd fmla="val 36000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232644" y="2442121"/>
            <a:ext cx="31224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-0.13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974309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481864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598247" y="4823892"/>
            <a:ext cx="29116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966347" y="238051"/>
            <a:ext cx="10495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5745" y="664666"/>
            <a:ext cx="125660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65745" y="823317"/>
            <a:ext cx="36296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Preparazione dei dati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65745" y="1199406"/>
            <a:ext cx="37999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Preparazione dei dati per i modelli di Machine Learning.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65745" y="1478905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53789" y="1612106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83047" y="1687860"/>
            <a:ext cx="135895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010469" y="1625947"/>
            <a:ext cx="1075804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Split stratificato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010469" y="1813173"/>
            <a:ext cx="281380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80% training (1.176 righe) e 20% test (294 righe).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010469" y="1975991"/>
            <a:ext cx="151112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stratify=y · random_state=42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663418" y="1478905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851425" y="1612106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967213" y="1687860"/>
            <a:ext cx="170914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308104" y="1625947"/>
            <a:ext cx="123435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One-Hot Encoding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308104" y="1813173"/>
            <a:ext cx="282396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 variabili categoriche trasformate in colonne 0/1.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308104" y="1975991"/>
            <a:ext cx="111285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28 → 41 feature totali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45" y="3120293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53789" y="3253457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68238" y="3329211"/>
            <a:ext cx="1743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010469" y="3267298"/>
            <a:ext cx="1249836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Standardizzazione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010469" y="3454524"/>
            <a:ext cx="275179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StandardScaler: media 0, deviazione standard 1.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010469" y="3617342"/>
            <a:ext cx="222544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Fondamentale per la Regressione Logistica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18" y="3120293"/>
            <a:ext cx="4114800" cy="1457325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232" name="Google Shape;232;p7"/>
          <p:cNvSpPr/>
          <p:nvPr/>
        </p:nvSpPr>
        <p:spPr>
          <a:xfrm>
            <a:off x="4846662" y="3248695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958953" y="3324448"/>
            <a:ext cx="179911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303341" y="3262536"/>
            <a:ext cx="171069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class_weight="balanced"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303341" y="3449762"/>
            <a:ext cx="3839230" cy="2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Compensa lo sbilanciamento 84% / 16% dando piu peso alla classe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minoritaria.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978700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486254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602638" y="4823892"/>
            <a:ext cx="28545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917531" y="238051"/>
            <a:ext cx="11130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CLASSIFICAZIONE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45" y="1197248"/>
            <a:ext cx="85504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MODELLO 1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45" y="1355899"/>
            <a:ext cx="3241677" cy="280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Regressione Logistica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45" y="1696864"/>
            <a:ext cx="4003104" cy="2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Modello semplice e interpretabile, buon punto di partenza per la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37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classificazione binaria.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65261" y="2205224"/>
            <a:ext cx="4024312" cy="1304925"/>
          </a:xfrm>
          <a:prstGeom prst="roundRect">
            <a:avLst>
              <a:gd fmla="val 70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53343" y="2348285"/>
            <a:ext cx="219564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TUNING SOGLIA (CROSS-VAL 5-FOLD)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53380" y="2564904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63029" y="2625998"/>
            <a:ext cx="59017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716685" y="2625998"/>
            <a:ext cx="54480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0.45</a:t>
            </a:r>
            <a:r>
              <a:rPr lang="en-US" sz="68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53380" y="2849389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63029" y="2910483"/>
            <a:ext cx="582632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0.5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713559" y="2910483"/>
            <a:ext cx="54887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</a:t>
            </a:r>
            <a:r>
              <a:rPr lang="en-US" sz="68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53380" y="3133874"/>
            <a:ext cx="3648075" cy="242888"/>
          </a:xfrm>
          <a:prstGeom prst="roundRect">
            <a:avLst>
              <a:gd fmla="val 18823" name="adj"/>
            </a:avLst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67792" y="3199730"/>
            <a:ext cx="105413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Soglia 0.6 (scelta)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705299" y="3199730"/>
            <a:ext cx="55341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F1: 0.5</a:t>
            </a:r>
            <a:r>
              <a:rPr b="1" lang="en-US" sz="68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49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65261" y="3612505"/>
            <a:ext cx="4024312" cy="433388"/>
          </a:xfrm>
          <a:prstGeom prst="roundRect">
            <a:avLst>
              <a:gd fmla="val 16879" name="adj"/>
            </a:avLst>
          </a:prstGeom>
          <a:solidFill>
            <a:srgbClr val="0D9488">
              <a:alpha val="5882"/>
            </a:srgbClr>
          </a:solidFill>
          <a:ln cap="flat" cmpd="sng" w="9525">
            <a:solidFill>
              <a:srgbClr val="0D9488">
                <a:alpha val="1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07653" y="3704183"/>
            <a:ext cx="99415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Scelta: soglia 0.6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07653" y="3849812"/>
            <a:ext cx="282667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Miglior F1 (0.527) con buon equilibrio Precision / Recall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754835" y="1277764"/>
            <a:ext cx="88116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MODELLO 2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4835" y="1436415"/>
            <a:ext cx="2221185" cy="280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754835" y="1777380"/>
            <a:ext cx="5200821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300 alberi decisionali, piu complesso ma capace di catturare interazioni non lineari.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754389" y="2124782"/>
            <a:ext cx="4024312" cy="1304925"/>
          </a:xfrm>
          <a:prstGeom prst="roundRect">
            <a:avLst>
              <a:gd fmla="val 70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942433" y="2267843"/>
            <a:ext cx="219564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TUNING SOGLIA (CROSS-VAL 5-FOLD)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942508" y="2484462"/>
            <a:ext cx="3648075" cy="242888"/>
          </a:xfrm>
          <a:prstGeom prst="roundRect">
            <a:avLst>
              <a:gd fmla="val 18823" name="adj"/>
            </a:avLst>
          </a:prstGeom>
          <a:solidFill>
            <a:srgbClr val="1E3A5F">
              <a:alpha val="5882"/>
            </a:srgbClr>
          </a:solidFill>
          <a:ln cap="flat" cmpd="sng" w="9525">
            <a:solidFill>
              <a:srgbClr val="1E3A5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056882" y="2550319"/>
            <a:ext cx="105519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Soglia 0.2 (scelta)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106221" y="2550319"/>
            <a:ext cx="53813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F1: 0.5</a:t>
            </a:r>
            <a:r>
              <a:rPr b="1" lang="en-US" sz="68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942508" y="2778472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52120" y="2839566"/>
            <a:ext cx="58398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0.3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109124" y="2839566"/>
            <a:ext cx="54055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0.472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942508" y="3062957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052120" y="3124051"/>
            <a:ext cx="59017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103468" y="3124051"/>
            <a:ext cx="54790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0.420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54389" y="3532063"/>
            <a:ext cx="4024312" cy="433388"/>
          </a:xfrm>
          <a:prstGeom prst="roundRect">
            <a:avLst>
              <a:gd fmla="val 16879" name="adj"/>
            </a:avLst>
          </a:prstGeom>
          <a:solidFill>
            <a:srgbClr val="1E3A5F">
              <a:alpha val="5098"/>
            </a:srgbClr>
          </a:solidFill>
          <a:ln cap="flat" cmpd="sng" w="9525">
            <a:solidFill>
              <a:srgbClr val="1E3A5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96743" y="3623742"/>
            <a:ext cx="99541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Scelta: soglia 0.2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896743" y="3769370"/>
            <a:ext cx="346137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RF e piu conservativo: serve soglia bassa per un recall comparabile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976467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48402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600405" y="4823892"/>
            <a:ext cx="2883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0" y="-31960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282681" y="238051"/>
            <a:ext cx="6383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65745" y="664666"/>
            <a:ext cx="181517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RISULTATI SUL TEST SET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65745" y="807913"/>
            <a:ext cx="34790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Risultati sul Test Set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65745" y="1168598"/>
            <a:ext cx="44333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Regressione Logistica ottiene il miglior equilibrio complessivo.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66713" y="1448209"/>
            <a:ext cx="8410575" cy="12573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71475" y="1452972"/>
            <a:ext cx="8401050" cy="2762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53343" y="1538883"/>
            <a:ext cx="61146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999043" y="1538883"/>
            <a:ext cx="70587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189731" y="1538883"/>
            <a:ext cx="6730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453167" y="1538883"/>
            <a:ext cx="49479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566379" y="1538883"/>
            <a:ext cx="61687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7749027" y="1538883"/>
            <a:ext cx="60023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ROC-AUC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71475" y="1728713"/>
            <a:ext cx="8401050" cy="490537"/>
          </a:xfrm>
          <a:prstGeom prst="rect">
            <a:avLst/>
          </a:prstGeom>
          <a:solidFill>
            <a:srgbClr val="0D9488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53343" y="1847031"/>
            <a:ext cx="1464499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Regressione Logistica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53343" y="2003450"/>
            <a:ext cx="1027628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soglia 0.6 · vincitore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996732" y="1856556"/>
            <a:ext cx="71042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148338" y="1856556"/>
            <a:ext cx="75579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339983" y="1856556"/>
            <a:ext cx="721162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489944" y="1856556"/>
            <a:ext cx="769821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52</a:t>
            </a:r>
            <a:r>
              <a:rPr b="1" i="0" lang="en-US" sz="13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-US" sz="13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sz="13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757056" y="1856556"/>
            <a:ext cx="58418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r>
              <a:rPr b="1" lang="en-US" sz="130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.7%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53343" y="2335188"/>
            <a:ext cx="101437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53343" y="2491606"/>
            <a:ext cx="1100666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300 alberi · soglia 0.2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999623" y="2344713"/>
            <a:ext cx="704716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77.6%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50359" y="2344713"/>
            <a:ext cx="751828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38.3%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322957" y="2344713"/>
            <a:ext cx="755213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66.0%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489859" y="2344713"/>
            <a:ext cx="769918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48.4%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20887" y="2344713"/>
            <a:ext cx="65644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78.2%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214823" y="3157091"/>
            <a:ext cx="1481137" cy="400050"/>
          </a:xfrm>
          <a:prstGeom prst="roundRect">
            <a:avLst>
              <a:gd fmla="val 13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31394" y="3157091"/>
            <a:ext cx="1481137" cy="400050"/>
          </a:xfrm>
          <a:prstGeom prst="roundRect">
            <a:avLst>
              <a:gd fmla="val 13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981304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488859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8605242" y="4823892"/>
            <a:ext cx="28206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9"/>
          <p:cNvPicPr preferRelativeResize="0"/>
          <p:nvPr/>
        </p:nvPicPr>
        <p:blipFill rotWithShape="1">
          <a:blip r:embed="rId4">
            <a:alphaModFix/>
          </a:blip>
          <a:srcRect b="0" l="990" r="-990" t="0"/>
          <a:stretch/>
        </p:blipFill>
        <p:spPr>
          <a:xfrm>
            <a:off x="547650" y="1189750"/>
            <a:ext cx="8229651" cy="4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350" y="2765975"/>
            <a:ext cx="2797674" cy="190632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pic>
      <p:pic>
        <p:nvPicPr>
          <p:cNvPr id="343" name="Google Shape;34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9600" y="2765975"/>
            <a:ext cx="5202925" cy="190632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7089204" y="238051"/>
            <a:ext cx="88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CONCLUSIONI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65745" y="1241003"/>
            <a:ext cx="1062841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CONCLUSIONI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5745" y="1409998"/>
            <a:ext cx="17299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Risultati 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65745" y="1711672"/>
            <a:ext cx="25152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prossimi passi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65261" y="2135088"/>
            <a:ext cx="4024312" cy="1123950"/>
          </a:xfrm>
          <a:prstGeom prst="roundRect">
            <a:avLst>
              <a:gd fmla="val 81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53343" y="2278112"/>
            <a:ext cx="13524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COSA ABBIAMO FATTO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53343" y="2463254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17872" y="2463254"/>
            <a:ext cx="28009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Esplorazione, pulizia e analisi del dataset IBM HR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553343" y="2641476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17872" y="2641476"/>
            <a:ext cx="31369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 stratificato, One-Hot Encoding, standardizzazione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53343" y="2819698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717872" y="2819698"/>
            <a:ext cx="296403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Confronto Regressione Logistica vs. Random Forest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53343" y="2997919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17872" y="2997919"/>
            <a:ext cx="25646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importance: reddito, eta, straordinari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65261" y="3362734"/>
            <a:ext cx="4024312" cy="638175"/>
          </a:xfrm>
          <a:prstGeom prst="roundRect">
            <a:avLst>
              <a:gd fmla="val 14328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53343" y="3478857"/>
            <a:ext cx="123310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LIMITI DEL MODELLO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53343" y="3643387"/>
            <a:ext cx="43621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Dataset piccolo (1.470) e sbilanciato: la classe Yes ha pochi esempi, il recall sulla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minoranza rimane il limite principale.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754835" y="1167333"/>
            <a:ext cx="113220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SVILUPPI FUTURI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754389" y="1388343"/>
            <a:ext cx="4024312" cy="633412"/>
          </a:xfrm>
          <a:prstGeom prst="roundRect">
            <a:avLst>
              <a:gd fmla="val 115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924127" y="1495127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018187" y="1550343"/>
            <a:ext cx="109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289872" y="1504652"/>
            <a:ext cx="132074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Tuning iperparametri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289872" y="1664047"/>
            <a:ext cx="4329113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GridSearchCV o RandomizedSearchCV per ottimizzare n_estimators, max_depth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 altri.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754389" y="2115964"/>
            <a:ext cx="4024312" cy="633412"/>
          </a:xfrm>
          <a:prstGeom prst="roundRect">
            <a:avLst>
              <a:gd fmla="val 115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924127" y="2222748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009257" y="2277963"/>
            <a:ext cx="13299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289872" y="2232273"/>
            <a:ext cx="125660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Modelli piu avanzati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289872" y="2391668"/>
            <a:ext cx="3806339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Gradient Boosting, XGBoost per migliorare le performance sulla classe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minoritaria.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754389" y="2842766"/>
            <a:ext cx="4024312" cy="504825"/>
          </a:xfrm>
          <a:prstGeom prst="roundRect">
            <a:avLst>
              <a:gd fmla="val 144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924127" y="2950369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008364" y="3005584"/>
            <a:ext cx="135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289872" y="2959894"/>
            <a:ext cx="126783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289872" y="3119289"/>
            <a:ext cx="388169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Nuove variabili derivate (es. rapporto anni nel ruolo vs. anzianita totale).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441167"/>
            <a:ext cx="4024312" cy="62865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388" name="Google Shape;388;p10"/>
          <p:cNvSpPr/>
          <p:nvPr/>
        </p:nvSpPr>
        <p:spPr>
          <a:xfrm>
            <a:off x="4919365" y="3552527"/>
            <a:ext cx="106100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Applicazione HR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919365" y="3717057"/>
            <a:ext cx="4822671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FEFEF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FEFEFF"/>
                </a:solidFill>
                <a:latin typeface="Inter"/>
                <a:ea typeface="Inter"/>
                <a:cs typeface="Inter"/>
                <a:sym typeface="Inter"/>
              </a:rPr>
              <a:t>Sistema di early warning per identificare i dipendenti a rischio di abbandono e supportare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FEFEF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FEFEFF"/>
                </a:solidFill>
                <a:latin typeface="Inter"/>
                <a:ea typeface="Inter"/>
                <a:cs typeface="Inter"/>
                <a:sym typeface="Inter"/>
              </a:rPr>
              <a:t>la retention.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976542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8484096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8600480" y="4823892"/>
            <a:ext cx="28825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7078489" y="238051"/>
            <a:ext cx="90380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STRUMENTI AI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65745" y="1450925"/>
            <a:ext cx="201619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INTELLIGENZA ARTIFICIALE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365745" y="1619920"/>
            <a:ext cx="18268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AI usata in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65745" y="1921594"/>
            <a:ext cx="27685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questo progetto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365250" y="2371800"/>
            <a:ext cx="7464300" cy="1246800"/>
          </a:xfrm>
          <a:prstGeom prst="roundRect">
            <a:avLst>
              <a:gd fmla="val 644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57882" y="2534469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56704" y="2594446"/>
            <a:ext cx="109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905600" y="2495375"/>
            <a:ext cx="6678000" cy="2382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Google Gemini 3.5 Flash (per generare title image nella presentazione)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57882" y="2849240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47774" y="2909218"/>
            <a:ext cx="13299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57882" y="3164012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46881" y="3223989"/>
            <a:ext cx="135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976467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848402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600405" y="4823892"/>
            <a:ext cx="2883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 / 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1"/>
          <p:cNvSpPr/>
          <p:nvPr/>
        </p:nvSpPr>
        <p:spPr>
          <a:xfrm>
            <a:off x="905600" y="2859600"/>
            <a:ext cx="6678000" cy="2382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Claude Sonnet 5 (per il codice notebook)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905600" y="3186900"/>
            <a:ext cx="6678000" cy="2049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replit.com</a:t>
            </a: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 (per creare presentazione Power Point)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65250" y="3953348"/>
            <a:ext cx="7464300" cy="441300"/>
          </a:xfrm>
          <a:prstGeom prst="roundRect">
            <a:avLst>
              <a:gd fmla="val 81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L'elenco completo degli obiettivi e i prompts sono  disponibile al seguente </a:t>
            </a:r>
            <a:r>
              <a:rPr b="1" i="0" lang="en-US" sz="14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