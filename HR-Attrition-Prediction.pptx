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5143500" cx="9144000"/>
  <p:notesSz cx="5143500" cy="9144000"/>
  <p:embeddedFontLst>
    <p:embeddedFont>
      <p:font typeface="Inter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font" Target="fonts/Inter-bold.fntdata"/><Relationship Id="rId14" Type="http://schemas.openxmlformats.org/officeDocument/2006/relationships/font" Target="fonts/Inter-regular.fntdata"/><Relationship Id="rId17" Type="http://schemas.openxmlformats.org/officeDocument/2006/relationships/font" Target="fonts/Inter-boldItalic.fntdata"/><Relationship Id="rId16" Type="http://schemas.openxmlformats.org/officeDocument/2006/relationships/font" Target="fonts/Inter-italic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://kaggle.com" TargetMode="Externa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L'obiettivo del mio progetto è prevedere se un dipendente lascerà l’azienda. Ho usato i dati da </a:t>
            </a:r>
            <a:r>
              <a:rPr lang="en-US" u="sng">
                <a:solidFill>
                  <a:schemeClr val="hlink"/>
                </a:solidFill>
                <a:hlinkClick r:id="rId2"/>
              </a:rPr>
              <a:t>kaggle.com</a:t>
            </a:r>
            <a:r>
              <a:rPr lang="en-US"/>
              <a:t>.  Sono i dati fittizi creati dai Data Scientists di IBM.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" name="Google Shape;3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9" name="Google Shape;39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2" name="Google Shape;92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2" name="Google Shape;14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3" name="Google Shape;143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" name="Google Shape;201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2" name="Google Shape;202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5" name="Google Shape;24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46" name="Google Shape;246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7" name="Google Shape;29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98" name="Google Shape;298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6" name="Google Shape;34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47" name="Google Shape;347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9" name="Google Shape;399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00" name="Google Shape;400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olgashopieva.github.io/" TargetMode="External"/><Relationship Id="rId4" Type="http://schemas.openxmlformats.org/officeDocument/2006/relationships/hyperlink" Target="https://github.com/OlgaShopieva/adabi-hr-attrition-prediction" TargetMode="External"/><Relationship Id="rId9" Type="http://schemas.openxmlformats.org/officeDocument/2006/relationships/image" Target="../media/image4.png"/><Relationship Id="rId5" Type="http://schemas.openxmlformats.org/officeDocument/2006/relationships/hyperlink" Target="https://colab.research.google.com/drive/1tQPxiFkxnX9QvUwgBJ0BEzQ1fWpRzUFV" TargetMode="External"/><Relationship Id="rId6" Type="http://schemas.openxmlformats.org/officeDocument/2006/relationships/hyperlink" Target="https://www.kaggle.com/datasets/pavansubhasht/ibm-hr-analytics-attrition-dataset/data" TargetMode="External"/><Relationship Id="rId7" Type="http://schemas.openxmlformats.org/officeDocument/2006/relationships/image" Target="../media/image6.png"/><Relationship Id="rId8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png"/><Relationship Id="rId4" Type="http://schemas.openxmlformats.org/officeDocument/2006/relationships/image" Target="../media/image6.png"/><Relationship Id="rId5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9.png"/><Relationship Id="rId7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hyperlink" Target="http://replit.com" TargetMode="External"/><Relationship Id="rId6" Type="http://schemas.openxmlformats.org/officeDocument/2006/relationships/hyperlink" Target="https://github.com/OlgaShopieva/adabi-hr-attrition-prediction/blob/main/AI_Usati.md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366675" y="206611"/>
            <a:ext cx="180975" cy="180975"/>
          </a:xfrm>
          <a:prstGeom prst="roundRect">
            <a:avLst>
              <a:gd fmla="val 20211" name="adj"/>
            </a:avLst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639961" y="229046"/>
            <a:ext cx="1382174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60"/>
              <a:buFont typeface="Inter"/>
              <a:buNone/>
            </a:pPr>
            <a:r>
              <a:rPr b="1" i="0" lang="en-US" sz="8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ADABI 2025–2026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6814170" y="238051"/>
            <a:ext cx="11825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IBM HR ANALYTICS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7862664" y="238051"/>
            <a:ext cx="1247418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MACHINE LEARNING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365745" y="1221209"/>
            <a:ext cx="1975277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CLASSIFICAZIONE 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365745" y="1411114"/>
            <a:ext cx="3320519" cy="5000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3240"/>
              <a:buFont typeface="Inter"/>
              <a:buNone/>
            </a:pPr>
            <a:r>
              <a:rPr b="1" i="0" lang="en-US" sz="324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Progetto ML:</a:t>
            </a:r>
            <a:endParaRPr b="0" i="0" sz="32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/>
          <p:nvPr/>
        </p:nvSpPr>
        <p:spPr>
          <a:xfrm>
            <a:off x="365745" y="1863775"/>
            <a:ext cx="4087170" cy="5000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3240"/>
              <a:buFont typeface="Inter"/>
              <a:buNone/>
            </a:pPr>
            <a:r>
              <a:rPr b="1" i="0" lang="en-US" sz="324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IBM HR Attrition</a:t>
            </a:r>
            <a:endParaRPr b="0" i="0" sz="32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3"/>
          <p:cNvSpPr/>
          <p:nvPr/>
        </p:nvSpPr>
        <p:spPr>
          <a:xfrm>
            <a:off x="365750" y="2441150"/>
            <a:ext cx="4395000" cy="70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9702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10"/>
              <a:buFont typeface="Inter"/>
              <a:buNone/>
            </a:pPr>
            <a:r>
              <a:rPr b="0" i="0" lang="en-US" sz="111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Prevedere se un dipendente lascerà l'azienda — un</a:t>
            </a:r>
            <a:endParaRPr b="0" i="0" sz="11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9702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10"/>
              <a:buFont typeface="Inter"/>
              <a:buNone/>
            </a:pPr>
            <a:r>
              <a:rPr b="0" i="0" lang="en-US" sz="111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problema di classificazione applicato al</a:t>
            </a:r>
            <a:r>
              <a:rPr b="0" i="0" lang="en-US" sz="111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111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dataset IBM HR Analytics.</a:t>
            </a:r>
            <a:endParaRPr b="0" i="0" sz="11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/>
          <p:cNvSpPr/>
          <p:nvPr/>
        </p:nvSpPr>
        <p:spPr>
          <a:xfrm>
            <a:off x="356025" y="3383375"/>
            <a:ext cx="4522200" cy="114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10"/>
              <a:buFont typeface="Inter"/>
              <a:buNone/>
            </a:pPr>
            <a:r>
              <a:rPr b="1" i="0" lang="en-US" sz="151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Gruppo: ADABI 2025-2026</a:t>
            </a:r>
            <a:endParaRPr b="1" i="0" sz="1510" u="none" cap="none" strike="noStrike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10"/>
              <a:buFont typeface="Inter"/>
              <a:buNone/>
            </a:pPr>
            <a:r>
              <a:rPr b="1" i="0" lang="en-US" sz="151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Olga Shopieva </a:t>
            </a:r>
            <a:r>
              <a:rPr b="1" i="0" lang="en-US" sz="1510" u="sng" cap="none" strike="noStrike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portfolio GitHub</a:t>
            </a:r>
            <a:endParaRPr b="1" i="0" sz="1510" u="none" cap="none" strike="noStrike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10"/>
              <a:buFont typeface="Inter"/>
              <a:buNone/>
            </a:pPr>
            <a:r>
              <a:rPr b="1" i="0" lang="en-US" sz="151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Progetto su </a:t>
            </a:r>
            <a:r>
              <a:rPr b="1" i="0" lang="en-US" sz="1510" u="sng" cap="none" strike="noStrike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4"/>
              </a:rPr>
              <a:t>GitHub </a:t>
            </a:r>
            <a:br>
              <a:rPr b="1" lang="en-US" sz="151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b="1" lang="en-US" sz="151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Google Colab</a:t>
            </a:r>
            <a:r>
              <a:rPr b="1" lang="en-US" sz="151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1" lang="en-US" sz="1510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5"/>
              </a:rPr>
              <a:t>Notebook</a:t>
            </a:r>
            <a:r>
              <a:rPr b="1" lang="en-US" sz="151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br>
              <a:rPr b="1" lang="en-US" sz="151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b="1" lang="en-US" sz="1510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6"/>
              </a:rPr>
              <a:t>Dataset</a:t>
            </a:r>
            <a:endParaRPr b="1" i="0" sz="1510" u="none" cap="none" strike="noStrike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" name="Google Shape;27;p3"/>
          <p:cNvSpPr/>
          <p:nvPr/>
        </p:nvSpPr>
        <p:spPr>
          <a:xfrm>
            <a:off x="6771977" y="3042121"/>
            <a:ext cx="516657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1.233 No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/>
          <p:cNvSpPr/>
          <p:nvPr/>
        </p:nvSpPr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3"/>
          <p:cNvSpPr/>
          <p:nvPr/>
        </p:nvSpPr>
        <p:spPr>
          <a:xfrm>
            <a:off x="365745" y="4823892"/>
            <a:ext cx="79468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Olga Shopieva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3"/>
          <p:cNvSpPr/>
          <p:nvPr/>
        </p:nvSpPr>
        <p:spPr>
          <a:xfrm>
            <a:off x="6994178" y="4823892"/>
            <a:ext cx="189817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IBM HR Analytics Employee Attrition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3"/>
          <p:cNvSpPr/>
          <p:nvPr/>
        </p:nvSpPr>
        <p:spPr>
          <a:xfrm>
            <a:off x="8501732" y="4823892"/>
            <a:ext cx="8965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·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3"/>
          <p:cNvSpPr/>
          <p:nvPr/>
        </p:nvSpPr>
        <p:spPr>
          <a:xfrm>
            <a:off x="8618116" y="4823892"/>
            <a:ext cx="265331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1 / 8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3" name="Google Shape;33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4" name="Google Shape;34;p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56020" y="4732772"/>
            <a:ext cx="8410575" cy="204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35;p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270850" y="568413"/>
            <a:ext cx="3320525" cy="41054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366675" y="206611"/>
            <a:ext cx="180975" cy="180975"/>
          </a:xfrm>
          <a:prstGeom prst="roundRect">
            <a:avLst>
              <a:gd fmla="val 20211" name="adj"/>
            </a:avLst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639961" y="229046"/>
            <a:ext cx="1382174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60"/>
              <a:buFont typeface="Inter"/>
              <a:buNone/>
            </a:pPr>
            <a:r>
              <a:rPr b="1" i="0" lang="en-US" sz="8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ADABI 2025–2026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6775028" y="238051"/>
            <a:ext cx="1298302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STRUTTURA DEI DATI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7912596" y="238051"/>
            <a:ext cx="11825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IBM HR ANALYTICS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365745" y="1205954"/>
            <a:ext cx="870525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IL DATASET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365745" y="1400621"/>
            <a:ext cx="1899724" cy="385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520"/>
              <a:buFont typeface="Inter"/>
              <a:buNone/>
            </a:pPr>
            <a:r>
              <a:rPr b="1" i="0" lang="en-US" sz="252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Il Dataset</a:t>
            </a:r>
            <a:endParaRPr b="0" i="0" sz="25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365745" y="1893615"/>
            <a:ext cx="4529651" cy="3330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9424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39"/>
              <a:buFont typeface="Inter"/>
              <a:buNone/>
            </a:pPr>
            <a:r>
              <a:rPr b="0" i="0" lang="en-US" sz="94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Ogni riga rappresenta un dipendente con informazioni su età,</a:t>
            </a:r>
            <a:endParaRPr b="0" i="0" sz="9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9424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39"/>
              <a:buFont typeface="Inter"/>
              <a:buNone/>
            </a:pPr>
            <a:r>
              <a:rPr b="0" i="0" lang="en-US" sz="94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stipendio, ruolo, soddisfazione e molto altro.</a:t>
            </a:r>
            <a:endParaRPr b="0" i="0" sz="9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4"/>
          <p:cNvSpPr/>
          <p:nvPr/>
        </p:nvSpPr>
        <p:spPr>
          <a:xfrm>
            <a:off x="365261" y="2409416"/>
            <a:ext cx="4024312" cy="490537"/>
          </a:xfrm>
          <a:prstGeom prst="roundRect">
            <a:avLst>
              <a:gd fmla="val 14913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5400000" dist="9525">
              <a:srgbClr val="1E3A5F">
                <a:alpha val="392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534070" y="2516535"/>
            <a:ext cx="276225" cy="276225"/>
          </a:xfrm>
          <a:prstGeom prst="ellipse">
            <a:avLst/>
          </a:prstGeom>
          <a:solidFill>
            <a:srgbClr val="0D9488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646509" y="2579787"/>
            <a:ext cx="123803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939"/>
              <a:buFont typeface="Inter"/>
              <a:buNone/>
            </a:pPr>
            <a:r>
              <a:rPr b="1" i="0" lang="en-US" sz="94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b="0" i="0" sz="9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4"/>
          <p:cNvSpPr/>
          <p:nvPr/>
        </p:nvSpPr>
        <p:spPr>
          <a:xfrm>
            <a:off x="946472" y="2520702"/>
            <a:ext cx="973552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Dati anagrafici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4"/>
          <p:cNvSpPr/>
          <p:nvPr/>
        </p:nvSpPr>
        <p:spPr>
          <a:xfrm>
            <a:off x="946472" y="2682255"/>
            <a:ext cx="2082656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8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Age, Gender, MaritalStatus, Education</a:t>
            </a:r>
            <a:endParaRPr b="0" i="0" sz="8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4"/>
          <p:cNvSpPr/>
          <p:nvPr/>
        </p:nvSpPr>
        <p:spPr>
          <a:xfrm>
            <a:off x="365261" y="2977716"/>
            <a:ext cx="4024312" cy="490537"/>
          </a:xfrm>
          <a:prstGeom prst="roundRect">
            <a:avLst>
              <a:gd fmla="val 14913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5400000" dist="9525">
              <a:srgbClr val="1E3A5F">
                <a:alpha val="392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534070" y="3084835"/>
            <a:ext cx="276225" cy="276225"/>
          </a:xfrm>
          <a:prstGeom prst="ellipse">
            <a:avLst/>
          </a:prstGeom>
          <a:solidFill>
            <a:srgbClr val="0D9488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634752" y="3148087"/>
            <a:ext cx="154469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939"/>
              <a:buFont typeface="Inter"/>
              <a:buNone/>
            </a:pPr>
            <a:r>
              <a:rPr b="1" i="0" lang="en-US" sz="94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b="0" i="0" sz="9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4"/>
          <p:cNvSpPr/>
          <p:nvPr/>
        </p:nvSpPr>
        <p:spPr>
          <a:xfrm>
            <a:off x="946472" y="3089002"/>
            <a:ext cx="1155807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Dati professionali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946472" y="3250555"/>
            <a:ext cx="2720839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8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JobRole, Department, JobLevel, YearsAtCompany</a:t>
            </a:r>
            <a:endParaRPr b="0" i="0" sz="8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4"/>
          <p:cNvSpPr/>
          <p:nvPr/>
        </p:nvSpPr>
        <p:spPr>
          <a:xfrm>
            <a:off x="365261" y="3546016"/>
            <a:ext cx="4024312" cy="490537"/>
          </a:xfrm>
          <a:prstGeom prst="roundRect">
            <a:avLst>
              <a:gd fmla="val 14913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5400000" dist="9525">
              <a:srgbClr val="1E3A5F">
                <a:alpha val="392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4"/>
          <p:cNvSpPr/>
          <p:nvPr/>
        </p:nvSpPr>
        <p:spPr>
          <a:xfrm>
            <a:off x="534070" y="3653135"/>
            <a:ext cx="276225" cy="276225"/>
          </a:xfrm>
          <a:prstGeom prst="ellipse">
            <a:avLst/>
          </a:prstGeom>
          <a:solidFill>
            <a:srgbClr val="0D9488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4"/>
          <p:cNvSpPr/>
          <p:nvPr/>
        </p:nvSpPr>
        <p:spPr>
          <a:xfrm>
            <a:off x="633785" y="3716387"/>
            <a:ext cx="156887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939"/>
              <a:buFont typeface="Inter"/>
              <a:buNone/>
            </a:pPr>
            <a:r>
              <a:rPr b="1" i="0" lang="en-US" sz="94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b="0" i="0" sz="9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4"/>
          <p:cNvSpPr/>
          <p:nvPr/>
        </p:nvSpPr>
        <p:spPr>
          <a:xfrm>
            <a:off x="946472" y="3657302"/>
            <a:ext cx="1688738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Soddisfazione e stipendio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4"/>
          <p:cNvSpPr/>
          <p:nvPr/>
        </p:nvSpPr>
        <p:spPr>
          <a:xfrm>
            <a:off x="946472" y="3818855"/>
            <a:ext cx="2353523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8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JobSatisfaction, MonthlyIncome, OverTime</a:t>
            </a:r>
            <a:endParaRPr b="0" i="0" sz="8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4"/>
          <p:cNvSpPr/>
          <p:nvPr/>
        </p:nvSpPr>
        <p:spPr>
          <a:xfrm>
            <a:off x="4754389" y="861492"/>
            <a:ext cx="4024312" cy="1343025"/>
          </a:xfrm>
          <a:prstGeom prst="roundRect">
            <a:avLst>
              <a:gd fmla="val 680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9525">
              <a:srgbClr val="1E3A5F">
                <a:alpha val="588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4"/>
          <p:cNvSpPr/>
          <p:nvPr/>
        </p:nvSpPr>
        <p:spPr>
          <a:xfrm>
            <a:off x="6099594" y="1030784"/>
            <a:ext cx="1333902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OSSERVAZIONI TOTALI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4"/>
          <p:cNvSpPr/>
          <p:nvPr/>
        </p:nvSpPr>
        <p:spPr>
          <a:xfrm>
            <a:off x="5941040" y="1262807"/>
            <a:ext cx="1651010" cy="552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3600"/>
              <a:buFont typeface="Inter"/>
              <a:buNone/>
            </a:pPr>
            <a:r>
              <a:rPr b="1" i="0" lang="en-US" sz="36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1.470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4"/>
          <p:cNvSpPr/>
          <p:nvPr/>
        </p:nvSpPr>
        <p:spPr>
          <a:xfrm>
            <a:off x="6268693" y="1917129"/>
            <a:ext cx="99570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righe nel dataset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4"/>
          <p:cNvSpPr/>
          <p:nvPr/>
        </p:nvSpPr>
        <p:spPr>
          <a:xfrm>
            <a:off x="4754835" y="2306352"/>
            <a:ext cx="1943100" cy="904875"/>
          </a:xfrm>
          <a:prstGeom prst="roundRect">
            <a:avLst>
              <a:gd fmla="val 10105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5400000" dist="9525">
              <a:srgbClr val="1E3A5F">
                <a:alpha val="392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4"/>
          <p:cNvSpPr/>
          <p:nvPr/>
        </p:nvSpPr>
        <p:spPr>
          <a:xfrm>
            <a:off x="5448527" y="2449488"/>
            <a:ext cx="555642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10"/>
              <a:buFont typeface="Inter"/>
              <a:buNone/>
            </a:pPr>
            <a:r>
              <a:rPr b="1" i="0" lang="en-US" sz="61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COLONNE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4"/>
          <p:cNvSpPr/>
          <p:nvPr/>
        </p:nvSpPr>
        <p:spPr>
          <a:xfrm>
            <a:off x="5434113" y="2640434"/>
            <a:ext cx="584470" cy="385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520"/>
              <a:buFont typeface="Inter"/>
              <a:buNone/>
            </a:pPr>
            <a:r>
              <a:rPr b="1" i="0" lang="en-US" sz="252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35</a:t>
            </a:r>
            <a:endParaRPr b="0" i="0" sz="25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4"/>
          <p:cNvSpPr/>
          <p:nvPr/>
        </p:nvSpPr>
        <p:spPr>
          <a:xfrm>
            <a:off x="6835118" y="2306352"/>
            <a:ext cx="1943100" cy="904875"/>
          </a:xfrm>
          <a:prstGeom prst="roundRect">
            <a:avLst>
              <a:gd fmla="val 10105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5400000" dist="9525">
              <a:srgbClr val="1E3A5F">
                <a:alpha val="392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4"/>
          <p:cNvSpPr/>
          <p:nvPr/>
        </p:nvSpPr>
        <p:spPr>
          <a:xfrm>
            <a:off x="7302780" y="2449488"/>
            <a:ext cx="1007700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10"/>
              <a:buFont typeface="Inter"/>
              <a:buNone/>
            </a:pPr>
            <a:r>
              <a:rPr b="1" i="0" lang="en-US" sz="61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VALORI MANCANTI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4"/>
          <p:cNvSpPr/>
          <p:nvPr/>
        </p:nvSpPr>
        <p:spPr>
          <a:xfrm>
            <a:off x="7637785" y="2640434"/>
            <a:ext cx="337691" cy="385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2520"/>
              <a:buFont typeface="Inter"/>
              <a:buNone/>
            </a:pPr>
            <a:r>
              <a:rPr b="1" i="0" lang="en-US" sz="252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0</a:t>
            </a:r>
            <a:endParaRPr b="0" i="0" sz="25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5" name="Google Shape;75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54389" y="3313807"/>
            <a:ext cx="4024312" cy="1052512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19050">
              <a:srgbClr val="1E3A5F">
                <a:alpha val="14902"/>
              </a:srgbClr>
            </a:outerShdw>
          </a:effectLst>
        </p:spPr>
      </p:pic>
      <p:sp>
        <p:nvSpPr>
          <p:cNvPr id="76" name="Google Shape;76;p4"/>
          <p:cNvSpPr/>
          <p:nvPr/>
        </p:nvSpPr>
        <p:spPr>
          <a:xfrm>
            <a:off x="4937671" y="3451920"/>
            <a:ext cx="1126495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FEFEFE"/>
                </a:solidFill>
                <a:latin typeface="Inter"/>
                <a:ea typeface="Inter"/>
                <a:cs typeface="Inter"/>
                <a:sym typeface="Inter"/>
              </a:rPr>
              <a:t>VARIABILE TARGET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4"/>
          <p:cNvSpPr/>
          <p:nvPr/>
        </p:nvSpPr>
        <p:spPr>
          <a:xfrm>
            <a:off x="4937671" y="3615333"/>
            <a:ext cx="1979920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Attrition (Yes / No)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4"/>
          <p:cNvSpPr/>
          <p:nvPr/>
        </p:nvSpPr>
        <p:spPr>
          <a:xfrm>
            <a:off x="4937671" y="3925044"/>
            <a:ext cx="542679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DFDFE"/>
              </a:buClr>
              <a:buSzPts val="610"/>
              <a:buFont typeface="Inter"/>
              <a:buNone/>
            </a:pPr>
            <a:r>
              <a:rPr b="0" i="0" lang="en-US" sz="610" u="none" cap="none" strike="noStrike">
                <a:solidFill>
                  <a:srgbClr val="FDFDFE"/>
                </a:solidFill>
                <a:latin typeface="Inter"/>
                <a:ea typeface="Inter"/>
                <a:cs typeface="Inter"/>
                <a:sym typeface="Inter"/>
              </a:rPr>
              <a:t>Classe No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4"/>
          <p:cNvSpPr/>
          <p:nvPr/>
        </p:nvSpPr>
        <p:spPr>
          <a:xfrm>
            <a:off x="4937671" y="4051102"/>
            <a:ext cx="1097764" cy="166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80"/>
              <a:buFont typeface="Inter"/>
              <a:buNone/>
            </a:pPr>
            <a:r>
              <a:rPr b="1" i="0" lang="en-US" sz="108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84% · 1.233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5920978" y="3925044"/>
            <a:ext cx="579053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DFDFE"/>
              </a:buClr>
              <a:buSzPts val="610"/>
              <a:buFont typeface="Inter"/>
              <a:buNone/>
            </a:pPr>
            <a:r>
              <a:rPr b="0" i="0" lang="en-US" sz="610" u="none" cap="none" strike="noStrike">
                <a:solidFill>
                  <a:srgbClr val="FDFDFE"/>
                </a:solidFill>
                <a:latin typeface="Inter"/>
                <a:ea typeface="Inter"/>
                <a:cs typeface="Inter"/>
                <a:sym typeface="Inter"/>
              </a:rPr>
              <a:t>Classe Yes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5920978" y="4051102"/>
            <a:ext cx="906028" cy="166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80"/>
              <a:buFont typeface="Inter"/>
              <a:buNone/>
            </a:pPr>
            <a:r>
              <a:rPr b="1" i="0" lang="en-US" sz="108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16% · 237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365745" y="4823892"/>
            <a:ext cx="79468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Olga Shopieva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6977583" y="4823892"/>
            <a:ext cx="189817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IBM HR Analytics Employee Attrition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8485138" y="4823892"/>
            <a:ext cx="8965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·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4"/>
          <p:cNvSpPr/>
          <p:nvPr/>
        </p:nvSpPr>
        <p:spPr>
          <a:xfrm>
            <a:off x="8601521" y="4823892"/>
            <a:ext cx="28690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2 / 8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87" name="Google Shape;87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88" name="Google Shape;88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5"/>
          <p:cNvSpPr/>
          <p:nvPr/>
        </p:nvSpPr>
        <p:spPr>
          <a:xfrm>
            <a:off x="13" y="-42775"/>
            <a:ext cx="9144000" cy="51435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5"/>
          <p:cNvSpPr/>
          <p:nvPr/>
        </p:nvSpPr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366675" y="206611"/>
            <a:ext cx="180975" cy="180975"/>
          </a:xfrm>
          <a:prstGeom prst="roundRect">
            <a:avLst>
              <a:gd fmla="val 20211" name="adj"/>
            </a:avLst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5"/>
          <p:cNvSpPr/>
          <p:nvPr/>
        </p:nvSpPr>
        <p:spPr>
          <a:xfrm>
            <a:off x="639961" y="229046"/>
            <a:ext cx="1382174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60"/>
              <a:buFont typeface="Inter"/>
              <a:buNone/>
            </a:pPr>
            <a:r>
              <a:rPr b="1" i="0" lang="en-US" sz="8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ADABI 2025–2026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5"/>
          <p:cNvSpPr/>
          <p:nvPr/>
        </p:nvSpPr>
        <p:spPr>
          <a:xfrm>
            <a:off x="6810301" y="238051"/>
            <a:ext cx="1252448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PREPARAZIONE DATI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7912596" y="238051"/>
            <a:ext cx="11825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IBM HR ANALYTICS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5"/>
          <p:cNvSpPr/>
          <p:nvPr/>
        </p:nvSpPr>
        <p:spPr>
          <a:xfrm>
            <a:off x="365745" y="1270695"/>
            <a:ext cx="1781800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PULIZIA DELLE FEATURE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365745" y="1465362"/>
            <a:ext cx="2899901" cy="3571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300"/>
              <a:buFont typeface="Inter"/>
              <a:buNone/>
            </a:pPr>
            <a:r>
              <a:rPr b="1" i="0" lang="en-US" sz="23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Colonne eliminate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365745" y="1787203"/>
            <a:ext cx="2478025" cy="3571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300"/>
              <a:buFont typeface="Inter"/>
              <a:buNone/>
            </a:pPr>
            <a:r>
              <a:rPr b="1" i="0" lang="en-US" sz="23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e motivazioni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5"/>
          <p:cNvSpPr/>
          <p:nvPr/>
        </p:nvSpPr>
        <p:spPr>
          <a:xfrm>
            <a:off x="365745" y="2224236"/>
            <a:ext cx="4805162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860"/>
              <a:buFont typeface="Inter"/>
              <a:buNone/>
            </a:pPr>
            <a:r>
              <a:rPr b="0" i="0" lang="en-US" sz="86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eliminate le colonne non informative per evitare rumore e data leakage.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5"/>
          <p:cNvSpPr/>
          <p:nvPr/>
        </p:nvSpPr>
        <p:spPr>
          <a:xfrm>
            <a:off x="365261" y="2508796"/>
            <a:ext cx="4024312" cy="447675"/>
          </a:xfrm>
          <a:prstGeom prst="roundRect">
            <a:avLst>
              <a:gd fmla="val 16340" name="adj"/>
            </a:avLst>
          </a:prstGeom>
          <a:solidFill>
            <a:srgbClr val="FEF2F2"/>
          </a:solidFill>
          <a:ln cap="flat" cmpd="sng" w="9525">
            <a:solidFill>
              <a:srgbClr val="FECA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5"/>
          <p:cNvSpPr/>
          <p:nvPr/>
        </p:nvSpPr>
        <p:spPr>
          <a:xfrm>
            <a:off x="507653" y="2600771"/>
            <a:ext cx="880683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1B1B"/>
              </a:buClr>
              <a:buSzPts val="720"/>
              <a:buFont typeface="Inter"/>
              <a:buNone/>
            </a:pPr>
            <a:r>
              <a:rPr b="1" i="0" lang="en-US" sz="820" u="none" cap="none" strike="noStrike">
                <a:solidFill>
                  <a:srgbClr val="991B1B"/>
                </a:solidFill>
                <a:latin typeface="Inter"/>
                <a:ea typeface="Inter"/>
                <a:cs typeface="Inter"/>
                <a:sym typeface="Inter"/>
              </a:rPr>
              <a:t>Valori costanti</a:t>
            </a:r>
            <a:endParaRPr b="0" i="0" sz="8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5"/>
          <p:cNvSpPr/>
          <p:nvPr/>
        </p:nvSpPr>
        <p:spPr>
          <a:xfrm>
            <a:off x="507653" y="2753320"/>
            <a:ext cx="2199709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1D1D"/>
              </a:buClr>
              <a:buSzPts val="680"/>
              <a:buFont typeface="Inter"/>
              <a:buNone/>
            </a:pPr>
            <a:r>
              <a:rPr b="0" i="0" lang="en-US" sz="780" u="none" cap="none" strike="noStrike">
                <a:solidFill>
                  <a:srgbClr val="7F1D1D"/>
                </a:solidFill>
                <a:latin typeface="Inter"/>
                <a:ea typeface="Inter"/>
                <a:cs typeface="Inter"/>
                <a:sym typeface="Inter"/>
              </a:rPr>
              <a:t>EmployeeCount, Over18, StandardHours</a:t>
            </a:r>
            <a:endParaRPr b="0" i="0" sz="7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5"/>
          <p:cNvSpPr/>
          <p:nvPr/>
        </p:nvSpPr>
        <p:spPr>
          <a:xfrm>
            <a:off x="365261" y="3016969"/>
            <a:ext cx="4024312" cy="447675"/>
          </a:xfrm>
          <a:prstGeom prst="roundRect">
            <a:avLst>
              <a:gd fmla="val 16340" name="adj"/>
            </a:avLst>
          </a:prstGeom>
          <a:solidFill>
            <a:srgbClr val="FEF2F2"/>
          </a:solidFill>
          <a:ln cap="flat" cmpd="sng" w="9525">
            <a:solidFill>
              <a:srgbClr val="FECA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5"/>
          <p:cNvSpPr/>
          <p:nvPr/>
        </p:nvSpPr>
        <p:spPr>
          <a:xfrm>
            <a:off x="507653" y="3108945"/>
            <a:ext cx="1659910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1B1B"/>
              </a:buClr>
              <a:buSzPts val="720"/>
              <a:buFont typeface="Inter"/>
              <a:buNone/>
            </a:pPr>
            <a:r>
              <a:rPr b="1" i="0" lang="en-US" sz="820" u="none" cap="none" strike="noStrike">
                <a:solidFill>
                  <a:srgbClr val="991B1B"/>
                </a:solidFill>
                <a:latin typeface="Inter"/>
                <a:ea typeface="Inter"/>
                <a:cs typeface="Inter"/>
                <a:sym typeface="Inter"/>
              </a:rPr>
              <a:t>Identificativo (data leakage)</a:t>
            </a:r>
            <a:endParaRPr b="0" i="0" sz="8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5"/>
          <p:cNvSpPr/>
          <p:nvPr/>
        </p:nvSpPr>
        <p:spPr>
          <a:xfrm>
            <a:off x="507653" y="3261494"/>
            <a:ext cx="1006926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1D1D"/>
              </a:buClr>
              <a:buSzPts val="680"/>
              <a:buFont typeface="Inter"/>
              <a:buNone/>
            </a:pPr>
            <a:r>
              <a:rPr b="0" i="0" lang="en-US" sz="780" u="none" cap="none" strike="noStrike">
                <a:solidFill>
                  <a:srgbClr val="7F1D1D"/>
                </a:solidFill>
                <a:latin typeface="Inter"/>
                <a:ea typeface="Inter"/>
                <a:cs typeface="Inter"/>
                <a:sym typeface="Inter"/>
              </a:rPr>
              <a:t>EmployeeNumber</a:t>
            </a:r>
            <a:endParaRPr b="0" i="0" sz="7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5"/>
          <p:cNvSpPr/>
          <p:nvPr/>
        </p:nvSpPr>
        <p:spPr>
          <a:xfrm>
            <a:off x="365261" y="3525143"/>
            <a:ext cx="4024312" cy="447675"/>
          </a:xfrm>
          <a:prstGeom prst="roundRect">
            <a:avLst>
              <a:gd fmla="val 16340" name="adj"/>
            </a:avLst>
          </a:prstGeom>
          <a:solidFill>
            <a:srgbClr val="FEF2F2"/>
          </a:solidFill>
          <a:ln cap="flat" cmpd="sng" w="9525">
            <a:solidFill>
              <a:srgbClr val="FECA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5"/>
          <p:cNvSpPr/>
          <p:nvPr/>
        </p:nvSpPr>
        <p:spPr>
          <a:xfrm>
            <a:off x="507653" y="3617119"/>
            <a:ext cx="1843229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1B1B"/>
              </a:buClr>
              <a:buSzPts val="720"/>
              <a:buFont typeface="Inter"/>
              <a:buNone/>
            </a:pPr>
            <a:r>
              <a:rPr b="1" i="0" lang="en-US" sz="820" u="none" cap="none" strike="noStrike">
                <a:solidFill>
                  <a:srgbClr val="991B1B"/>
                </a:solidFill>
                <a:latin typeface="Inter"/>
                <a:ea typeface="Inter"/>
                <a:cs typeface="Inter"/>
                <a:sym typeface="Inter"/>
              </a:rPr>
              <a:t>Ridondanti con MonthlyIncome</a:t>
            </a:r>
            <a:endParaRPr b="0" i="0" sz="8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5"/>
          <p:cNvSpPr/>
          <p:nvPr/>
        </p:nvSpPr>
        <p:spPr>
          <a:xfrm>
            <a:off x="507653" y="3769668"/>
            <a:ext cx="1947706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1D1D"/>
              </a:buClr>
              <a:buSzPts val="680"/>
              <a:buFont typeface="Inter"/>
              <a:buNone/>
            </a:pPr>
            <a:r>
              <a:rPr b="0" i="0" lang="en-US" sz="780" u="none" cap="none" strike="noStrike">
                <a:solidFill>
                  <a:srgbClr val="7F1D1D"/>
                </a:solidFill>
                <a:latin typeface="Inter"/>
                <a:ea typeface="Inter"/>
                <a:cs typeface="Inter"/>
                <a:sym typeface="Inter"/>
              </a:rPr>
              <a:t>DailyRate, HourlyRate, MonthlyRate</a:t>
            </a:r>
            <a:endParaRPr b="0" i="0" sz="7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5"/>
          <p:cNvSpPr/>
          <p:nvPr/>
        </p:nvSpPr>
        <p:spPr>
          <a:xfrm>
            <a:off x="4754389" y="1240222"/>
            <a:ext cx="4024312" cy="1671638"/>
          </a:xfrm>
          <a:prstGeom prst="roundRect">
            <a:avLst>
              <a:gd fmla="val 547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9525">
              <a:srgbClr val="1E3A5F">
                <a:alpha val="588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5"/>
          <p:cNvSpPr/>
          <p:nvPr/>
        </p:nvSpPr>
        <p:spPr>
          <a:xfrm>
            <a:off x="4988198" y="1413272"/>
            <a:ext cx="1395427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Feature prima e dopo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5"/>
          <p:cNvSpPr/>
          <p:nvPr/>
        </p:nvSpPr>
        <p:spPr>
          <a:xfrm>
            <a:off x="5865510" y="1817489"/>
            <a:ext cx="747474" cy="5000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3240"/>
              <a:buFont typeface="Inter"/>
              <a:buNone/>
            </a:pPr>
            <a:r>
              <a:rPr b="1" i="0" lang="en-US" sz="324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35</a:t>
            </a:r>
            <a:endParaRPr b="0" i="0" sz="32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5"/>
          <p:cNvSpPr/>
          <p:nvPr/>
        </p:nvSpPr>
        <p:spPr>
          <a:xfrm>
            <a:off x="5788979" y="2387129"/>
            <a:ext cx="900611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colonne originali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5"/>
          <p:cNvSpPr/>
          <p:nvPr/>
        </p:nvSpPr>
        <p:spPr>
          <a:xfrm>
            <a:off x="6746528" y="2017291"/>
            <a:ext cx="256334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440"/>
              <a:buFont typeface="Inter"/>
              <a:buNone/>
            </a:pPr>
            <a:r>
              <a:rPr b="1" i="0" lang="en-US" sz="144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 b="0" i="0" sz="14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5"/>
          <p:cNvSpPr/>
          <p:nvPr/>
        </p:nvSpPr>
        <p:spPr>
          <a:xfrm>
            <a:off x="6973662" y="1817489"/>
            <a:ext cx="753472" cy="5000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3240"/>
              <a:buFont typeface="Inter"/>
              <a:buNone/>
            </a:pPr>
            <a:r>
              <a:rPr b="1" i="0" lang="en-US" sz="324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28</a:t>
            </a:r>
            <a:endParaRPr b="0" i="0" sz="32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5"/>
          <p:cNvSpPr/>
          <p:nvPr/>
        </p:nvSpPr>
        <p:spPr>
          <a:xfrm>
            <a:off x="6996310" y="2387129"/>
            <a:ext cx="708102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feature finali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5"/>
          <p:cNvSpPr/>
          <p:nvPr/>
        </p:nvSpPr>
        <p:spPr>
          <a:xfrm>
            <a:off x="6040710" y="2679464"/>
            <a:ext cx="276225" cy="23812"/>
          </a:xfrm>
          <a:prstGeom prst="roundRect">
            <a:avLst>
              <a:gd fmla="val 40001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5"/>
          <p:cNvSpPr/>
          <p:nvPr/>
        </p:nvSpPr>
        <p:spPr>
          <a:xfrm>
            <a:off x="6407348" y="2639169"/>
            <a:ext cx="990965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7 colonne eliminate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5"/>
          <p:cNvSpPr/>
          <p:nvPr/>
        </p:nvSpPr>
        <p:spPr>
          <a:xfrm>
            <a:off x="7216080" y="2679464"/>
            <a:ext cx="276225" cy="23812"/>
          </a:xfrm>
          <a:prstGeom prst="roundRect">
            <a:avLst>
              <a:gd fmla="val 40001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23" name="Google Shape;123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54389" y="3016039"/>
            <a:ext cx="4024312" cy="971550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19050">
              <a:srgbClr val="1E3A5F">
                <a:alpha val="14902"/>
              </a:srgbClr>
            </a:outerShdw>
          </a:effectLst>
        </p:spPr>
      </p:pic>
      <p:sp>
        <p:nvSpPr>
          <p:cNvPr id="124" name="Google Shape;124;p5"/>
          <p:cNvSpPr/>
          <p:nvPr/>
        </p:nvSpPr>
        <p:spPr>
          <a:xfrm>
            <a:off x="4937671" y="3153073"/>
            <a:ext cx="1603028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FEFEFE"/>
                </a:solidFill>
                <a:latin typeface="Inter"/>
                <a:ea typeface="Inter"/>
                <a:cs typeface="Inter"/>
                <a:sym typeface="Inter"/>
              </a:rPr>
              <a:t>TRASFORMAZIONE TARGET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5"/>
          <p:cNvSpPr/>
          <p:nvPr/>
        </p:nvSpPr>
        <p:spPr>
          <a:xfrm>
            <a:off x="5117087" y="3332708"/>
            <a:ext cx="660120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939"/>
              <a:buFont typeface="Inter"/>
              <a:buNone/>
            </a:pPr>
            <a:r>
              <a:rPr b="1" i="0" lang="en-US" sz="940" u="none" cap="none" strike="noStrike">
                <a:solidFill>
                  <a:srgbClr val="FEFEFE"/>
                </a:solidFill>
                <a:latin typeface="Inter"/>
                <a:ea typeface="Inter"/>
                <a:cs typeface="Inter"/>
                <a:sym typeface="Inter"/>
              </a:rPr>
              <a:t>Attrition</a:t>
            </a:r>
            <a:endParaRPr b="0" i="0" sz="9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5"/>
          <p:cNvSpPr/>
          <p:nvPr/>
        </p:nvSpPr>
        <p:spPr>
          <a:xfrm>
            <a:off x="4756242" y="3520455"/>
            <a:ext cx="1381884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"Yes" / "No"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5"/>
          <p:cNvSpPr/>
          <p:nvPr/>
        </p:nvSpPr>
        <p:spPr>
          <a:xfrm>
            <a:off x="5300116" y="3753073"/>
            <a:ext cx="294062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DFDFE"/>
              </a:buClr>
              <a:buSzPts val="610"/>
              <a:buFont typeface="Inter"/>
              <a:buNone/>
            </a:pPr>
            <a:r>
              <a:rPr b="0" i="0" lang="en-US" sz="610" u="none" cap="none" strike="noStrike">
                <a:solidFill>
                  <a:srgbClr val="FDFDFE"/>
                </a:solidFill>
                <a:latin typeface="Inter"/>
                <a:ea typeface="Inter"/>
                <a:cs typeface="Inter"/>
                <a:sym typeface="Inter"/>
              </a:rPr>
              <a:t>testo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5"/>
          <p:cNvSpPr/>
          <p:nvPr/>
        </p:nvSpPr>
        <p:spPr>
          <a:xfrm>
            <a:off x="6139532" y="3475881"/>
            <a:ext cx="256334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440"/>
              <a:buFont typeface="Inter"/>
              <a:buNone/>
            </a:pPr>
            <a:r>
              <a:rPr b="1" i="0" lang="en-US" sz="144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 b="0" i="0" sz="14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5"/>
          <p:cNvSpPr/>
          <p:nvPr/>
        </p:nvSpPr>
        <p:spPr>
          <a:xfrm>
            <a:off x="6377438" y="3332708"/>
            <a:ext cx="660120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939"/>
              <a:buFont typeface="Inter"/>
              <a:buNone/>
            </a:pPr>
            <a:r>
              <a:rPr b="1" i="0" lang="en-US" sz="940" u="none" cap="none" strike="noStrike">
                <a:solidFill>
                  <a:srgbClr val="FEFEFE"/>
                </a:solidFill>
                <a:latin typeface="Inter"/>
                <a:ea typeface="Inter"/>
                <a:cs typeface="Inter"/>
                <a:sym typeface="Inter"/>
              </a:rPr>
              <a:t>Attrition</a:t>
            </a:r>
            <a:endParaRPr b="0" i="0" sz="9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5"/>
          <p:cNvSpPr/>
          <p:nvPr/>
        </p:nvSpPr>
        <p:spPr>
          <a:xfrm>
            <a:off x="6468480" y="3520455"/>
            <a:ext cx="477962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1 / 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5"/>
          <p:cNvSpPr/>
          <p:nvPr/>
        </p:nvSpPr>
        <p:spPr>
          <a:xfrm>
            <a:off x="6454646" y="3753073"/>
            <a:ext cx="505629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DFDFE"/>
              </a:buClr>
              <a:buSzPts val="610"/>
              <a:buFont typeface="Inter"/>
              <a:buNone/>
            </a:pPr>
            <a:r>
              <a:rPr b="0" i="0" lang="en-US" sz="610" u="none" cap="none" strike="noStrike">
                <a:solidFill>
                  <a:srgbClr val="FDFDFE"/>
                </a:solidFill>
                <a:latin typeface="Inter"/>
                <a:ea typeface="Inter"/>
                <a:cs typeface="Inter"/>
                <a:sym typeface="Inter"/>
              </a:rPr>
              <a:t>numerico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5"/>
          <p:cNvSpPr/>
          <p:nvPr/>
        </p:nvSpPr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5"/>
          <p:cNvSpPr/>
          <p:nvPr/>
        </p:nvSpPr>
        <p:spPr>
          <a:xfrm>
            <a:off x="365745" y="4823892"/>
            <a:ext cx="79468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Olga Shopieva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5"/>
          <p:cNvSpPr/>
          <p:nvPr/>
        </p:nvSpPr>
        <p:spPr>
          <a:xfrm>
            <a:off x="6976765" y="4823892"/>
            <a:ext cx="189817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IBM HR Analytics Employee Attrition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5"/>
          <p:cNvSpPr/>
          <p:nvPr/>
        </p:nvSpPr>
        <p:spPr>
          <a:xfrm>
            <a:off x="8484319" y="4823892"/>
            <a:ext cx="8965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·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5"/>
          <p:cNvSpPr/>
          <p:nvPr/>
        </p:nvSpPr>
        <p:spPr>
          <a:xfrm>
            <a:off x="8600703" y="4823892"/>
            <a:ext cx="287968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3 / 8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37" name="Google Shape;137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38" name="Google Shape;138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987751" y="1398687"/>
            <a:ext cx="3557588" cy="23336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39" name="Google Shape;139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6"/>
          <p:cNvSpPr/>
          <p:nvPr/>
        </p:nvSpPr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6"/>
          <p:cNvSpPr/>
          <p:nvPr/>
        </p:nvSpPr>
        <p:spPr>
          <a:xfrm>
            <a:off x="366675" y="206611"/>
            <a:ext cx="180975" cy="180975"/>
          </a:xfrm>
          <a:prstGeom prst="roundRect">
            <a:avLst>
              <a:gd fmla="val 20211" name="adj"/>
            </a:avLst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6"/>
          <p:cNvSpPr/>
          <p:nvPr/>
        </p:nvSpPr>
        <p:spPr>
          <a:xfrm>
            <a:off x="639961" y="229046"/>
            <a:ext cx="1382174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60"/>
              <a:buFont typeface="Inter"/>
              <a:buNone/>
            </a:pPr>
            <a:r>
              <a:rPr b="1" i="0" lang="en-US" sz="8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ADABI 2025–2026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6"/>
          <p:cNvSpPr/>
          <p:nvPr/>
        </p:nvSpPr>
        <p:spPr>
          <a:xfrm>
            <a:off x="6730603" y="238051"/>
            <a:ext cx="135605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ANALISI ESPLORATIVA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6"/>
          <p:cNvSpPr/>
          <p:nvPr/>
        </p:nvSpPr>
        <p:spPr>
          <a:xfrm>
            <a:off x="7912596" y="238051"/>
            <a:ext cx="11825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IBM HR ANALYTICS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6"/>
          <p:cNvSpPr/>
          <p:nvPr/>
        </p:nvSpPr>
        <p:spPr>
          <a:xfrm>
            <a:off x="365745" y="1362075"/>
            <a:ext cx="2093104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ANALISI ESPLORATIVA (EDA)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6"/>
          <p:cNvSpPr/>
          <p:nvPr/>
        </p:nvSpPr>
        <p:spPr>
          <a:xfrm>
            <a:off x="365745" y="1556742"/>
            <a:ext cx="3755454" cy="3571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300"/>
              <a:buFont typeface="Inter"/>
              <a:buNone/>
            </a:pPr>
            <a:r>
              <a:rPr b="1" i="0" lang="en-US" sz="23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Chi lascia l'azienda?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6"/>
          <p:cNvSpPr/>
          <p:nvPr/>
        </p:nvSpPr>
        <p:spPr>
          <a:xfrm>
            <a:off x="365745" y="1993776"/>
            <a:ext cx="4326017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860"/>
              <a:buFont typeface="Inter"/>
              <a:buNone/>
            </a:pPr>
            <a:r>
              <a:rPr b="0" i="0" lang="en-US" sz="86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Tre pattern emergono con chiarezza dall'analisi del training set.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6"/>
          <p:cNvSpPr/>
          <p:nvPr/>
        </p:nvSpPr>
        <p:spPr>
          <a:xfrm>
            <a:off x="365261" y="2279712"/>
            <a:ext cx="4024312" cy="481012"/>
          </a:xfrm>
          <a:prstGeom prst="roundRect">
            <a:avLst>
              <a:gd fmla="val 15208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5400000" dist="9525">
              <a:srgbClr val="1E3A5F">
                <a:alpha val="392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6"/>
          <p:cNvSpPr/>
          <p:nvPr/>
        </p:nvSpPr>
        <p:spPr>
          <a:xfrm>
            <a:off x="535037" y="2385789"/>
            <a:ext cx="1330419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Eta e reddito piu bassi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6"/>
          <p:cNvSpPr/>
          <p:nvPr/>
        </p:nvSpPr>
        <p:spPr>
          <a:xfrm>
            <a:off x="535037" y="2543473"/>
            <a:ext cx="4686851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 dipendenti che partono tendono ad essere piu giovani e con MonthlyIncome inferiore.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6"/>
          <p:cNvSpPr/>
          <p:nvPr/>
        </p:nvSpPr>
        <p:spPr>
          <a:xfrm>
            <a:off x="365261" y="2839380"/>
            <a:ext cx="4024312" cy="481012"/>
          </a:xfrm>
          <a:prstGeom prst="roundRect">
            <a:avLst>
              <a:gd fmla="val 15208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5400000" dist="9525">
              <a:srgbClr val="1E3A5F">
                <a:alpha val="392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6"/>
          <p:cNvSpPr/>
          <p:nvPr/>
        </p:nvSpPr>
        <p:spPr>
          <a:xfrm>
            <a:off x="535037" y="2945457"/>
            <a:ext cx="165294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Straordinario come segnale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6"/>
          <p:cNvSpPr/>
          <p:nvPr/>
        </p:nvSpPr>
        <p:spPr>
          <a:xfrm>
            <a:off x="535037" y="3103141"/>
            <a:ext cx="3963248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OverTime = Yes e fortemente associato a un tasso di Attrition piu elevato.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6"/>
          <p:cNvSpPr/>
          <p:nvPr/>
        </p:nvSpPr>
        <p:spPr>
          <a:xfrm>
            <a:off x="365261" y="3399048"/>
            <a:ext cx="4024312" cy="481012"/>
          </a:xfrm>
          <a:prstGeom prst="roundRect">
            <a:avLst>
              <a:gd fmla="val 15208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5400000" dist="9525">
              <a:srgbClr val="1E3A5F">
                <a:alpha val="392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6"/>
          <p:cNvSpPr/>
          <p:nvPr/>
        </p:nvSpPr>
        <p:spPr>
          <a:xfrm>
            <a:off x="535037" y="3505126"/>
            <a:ext cx="1149712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Correlazioni deboli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6"/>
          <p:cNvSpPr/>
          <p:nvPr/>
        </p:nvSpPr>
        <p:spPr>
          <a:xfrm>
            <a:off x="535037" y="3662809"/>
            <a:ext cx="4476155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Nessuna variabile numerica ha |r| &gt; 0.20: necessaria la combinazione di piu fattori.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6"/>
          <p:cNvSpPr/>
          <p:nvPr/>
        </p:nvSpPr>
        <p:spPr>
          <a:xfrm>
            <a:off x="4754389" y="649784"/>
            <a:ext cx="4024312" cy="3929063"/>
          </a:xfrm>
          <a:prstGeom prst="roundRect">
            <a:avLst>
              <a:gd fmla="val 2327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9525">
              <a:srgbClr val="1E3A5F">
                <a:alpha val="588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6"/>
          <p:cNvSpPr/>
          <p:nvPr/>
        </p:nvSpPr>
        <p:spPr>
          <a:xfrm>
            <a:off x="4988198" y="823689"/>
            <a:ext cx="1678290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Correlazione con Attrition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6"/>
          <p:cNvSpPr/>
          <p:nvPr/>
        </p:nvSpPr>
        <p:spPr>
          <a:xfrm>
            <a:off x="4988198" y="995511"/>
            <a:ext cx="2120287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Correlazione di Pearson (valori numerici)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6"/>
          <p:cNvSpPr/>
          <p:nvPr/>
        </p:nvSpPr>
        <p:spPr>
          <a:xfrm>
            <a:off x="4988198" y="1221804"/>
            <a:ext cx="1401522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610"/>
              <a:buFont typeface="Inter"/>
              <a:buNone/>
            </a:pPr>
            <a:r>
              <a:rPr b="1" i="0" lang="en-US" sz="61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CORRELAZIONE POSITIVA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6"/>
          <p:cNvSpPr/>
          <p:nvPr/>
        </p:nvSpPr>
        <p:spPr>
          <a:xfrm>
            <a:off x="4988198" y="1389757"/>
            <a:ext cx="1054425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DistanceFromHome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6"/>
          <p:cNvSpPr/>
          <p:nvPr/>
        </p:nvSpPr>
        <p:spPr>
          <a:xfrm>
            <a:off x="6359835" y="1403821"/>
            <a:ext cx="1819275" cy="76200"/>
          </a:xfrm>
          <a:prstGeom prst="roundRect">
            <a:avLst>
              <a:gd fmla="val 36000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6"/>
          <p:cNvSpPr/>
          <p:nvPr/>
        </p:nvSpPr>
        <p:spPr>
          <a:xfrm>
            <a:off x="6360356" y="1403821"/>
            <a:ext cx="781050" cy="76200"/>
          </a:xfrm>
          <a:prstGeom prst="roundRect">
            <a:avLst>
              <a:gd fmla="val 36000" name="adj"/>
            </a:avLst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6"/>
          <p:cNvSpPr/>
          <p:nvPr/>
        </p:nvSpPr>
        <p:spPr>
          <a:xfrm>
            <a:off x="8178277" y="1389757"/>
            <a:ext cx="36661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+0.09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6"/>
          <p:cNvSpPr/>
          <p:nvPr/>
        </p:nvSpPr>
        <p:spPr>
          <a:xfrm>
            <a:off x="4988198" y="1554287"/>
            <a:ext cx="125109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NumCompaniesWorked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6"/>
          <p:cNvSpPr/>
          <p:nvPr/>
        </p:nvSpPr>
        <p:spPr>
          <a:xfrm>
            <a:off x="6359835" y="1568351"/>
            <a:ext cx="1819275" cy="76200"/>
          </a:xfrm>
          <a:prstGeom prst="roundRect">
            <a:avLst>
              <a:gd fmla="val 36000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6"/>
          <p:cNvSpPr/>
          <p:nvPr/>
        </p:nvSpPr>
        <p:spPr>
          <a:xfrm>
            <a:off x="6358979" y="1568351"/>
            <a:ext cx="438150" cy="76200"/>
          </a:xfrm>
          <a:prstGeom prst="roundRect">
            <a:avLst>
              <a:gd fmla="val 36000" name="adj"/>
            </a:avLst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6"/>
          <p:cNvSpPr/>
          <p:nvPr/>
        </p:nvSpPr>
        <p:spPr>
          <a:xfrm>
            <a:off x="8181179" y="1554287"/>
            <a:ext cx="36371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+0.05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6"/>
          <p:cNvSpPr/>
          <p:nvPr/>
        </p:nvSpPr>
        <p:spPr>
          <a:xfrm>
            <a:off x="4988198" y="1780580"/>
            <a:ext cx="1440314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610"/>
              <a:buFont typeface="Inter"/>
              <a:buNone/>
            </a:pPr>
            <a:r>
              <a:rPr b="1" i="0" lang="en-US" sz="61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CORRELAZIONE NEGATIVA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6"/>
          <p:cNvSpPr/>
          <p:nvPr/>
        </p:nvSpPr>
        <p:spPr>
          <a:xfrm>
            <a:off x="4988198" y="1948532"/>
            <a:ext cx="100692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TotalWorkingYears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6"/>
          <p:cNvSpPr/>
          <p:nvPr/>
        </p:nvSpPr>
        <p:spPr>
          <a:xfrm>
            <a:off x="6359835" y="1962596"/>
            <a:ext cx="1819275" cy="76200"/>
          </a:xfrm>
          <a:prstGeom prst="roundRect">
            <a:avLst>
              <a:gd fmla="val 36000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6"/>
          <p:cNvSpPr/>
          <p:nvPr/>
        </p:nvSpPr>
        <p:spPr>
          <a:xfrm>
            <a:off x="6360430" y="1962596"/>
            <a:ext cx="1690688" cy="76200"/>
          </a:xfrm>
          <a:prstGeom prst="roundRect">
            <a:avLst>
              <a:gd fmla="val 36000" name="adj"/>
            </a:avLst>
          </a:prstGeom>
          <a:solidFill>
            <a:srgbClr val="1E3A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6"/>
          <p:cNvSpPr/>
          <p:nvPr/>
        </p:nvSpPr>
        <p:spPr>
          <a:xfrm>
            <a:off x="8232257" y="1948532"/>
            <a:ext cx="31263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-0.19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6"/>
          <p:cNvSpPr/>
          <p:nvPr/>
        </p:nvSpPr>
        <p:spPr>
          <a:xfrm>
            <a:off x="4988198" y="2113062"/>
            <a:ext cx="258849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Age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6"/>
          <p:cNvSpPr/>
          <p:nvPr/>
        </p:nvSpPr>
        <p:spPr>
          <a:xfrm>
            <a:off x="6359835" y="2127126"/>
            <a:ext cx="1819275" cy="76200"/>
          </a:xfrm>
          <a:prstGeom prst="roundRect">
            <a:avLst>
              <a:gd fmla="val 36000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6"/>
          <p:cNvSpPr/>
          <p:nvPr/>
        </p:nvSpPr>
        <p:spPr>
          <a:xfrm>
            <a:off x="6360840" y="2127126"/>
            <a:ext cx="1671638" cy="76200"/>
          </a:xfrm>
          <a:prstGeom prst="roundRect">
            <a:avLst>
              <a:gd fmla="val 36000" name="adj"/>
            </a:avLst>
          </a:prstGeom>
          <a:solidFill>
            <a:srgbClr val="1E3A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6"/>
          <p:cNvSpPr/>
          <p:nvPr/>
        </p:nvSpPr>
        <p:spPr>
          <a:xfrm>
            <a:off x="8232257" y="2113062"/>
            <a:ext cx="31263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-0.19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6"/>
          <p:cNvSpPr/>
          <p:nvPr/>
        </p:nvSpPr>
        <p:spPr>
          <a:xfrm>
            <a:off x="4988198" y="2277591"/>
            <a:ext cx="124045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YearsWithCurrManager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6"/>
          <p:cNvSpPr/>
          <p:nvPr/>
        </p:nvSpPr>
        <p:spPr>
          <a:xfrm>
            <a:off x="6359835" y="2291655"/>
            <a:ext cx="1819275" cy="76200"/>
          </a:xfrm>
          <a:prstGeom prst="roundRect">
            <a:avLst>
              <a:gd fmla="val 36000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6"/>
          <p:cNvSpPr/>
          <p:nvPr/>
        </p:nvSpPr>
        <p:spPr>
          <a:xfrm>
            <a:off x="6359091" y="2291655"/>
            <a:ext cx="1547813" cy="76200"/>
          </a:xfrm>
          <a:prstGeom prst="roundRect">
            <a:avLst>
              <a:gd fmla="val 36000" name="adj"/>
            </a:avLst>
          </a:prstGeom>
          <a:solidFill>
            <a:srgbClr val="1E3A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6"/>
          <p:cNvSpPr/>
          <p:nvPr/>
        </p:nvSpPr>
        <p:spPr>
          <a:xfrm>
            <a:off x="8239028" y="2277591"/>
            <a:ext cx="30586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-0.17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6"/>
          <p:cNvSpPr/>
          <p:nvPr/>
        </p:nvSpPr>
        <p:spPr>
          <a:xfrm>
            <a:off x="4988198" y="2442121"/>
            <a:ext cx="860948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JobInvolvement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6"/>
          <p:cNvSpPr/>
          <p:nvPr/>
        </p:nvSpPr>
        <p:spPr>
          <a:xfrm>
            <a:off x="6359835" y="2456185"/>
            <a:ext cx="1819275" cy="76200"/>
          </a:xfrm>
          <a:prstGeom prst="roundRect">
            <a:avLst>
              <a:gd fmla="val 36000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6"/>
          <p:cNvSpPr/>
          <p:nvPr/>
        </p:nvSpPr>
        <p:spPr>
          <a:xfrm>
            <a:off x="6358979" y="2456185"/>
            <a:ext cx="1147763" cy="76200"/>
          </a:xfrm>
          <a:prstGeom prst="roundRect">
            <a:avLst>
              <a:gd fmla="val 36000" name="adj"/>
            </a:avLst>
          </a:prstGeom>
          <a:solidFill>
            <a:srgbClr val="47556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6"/>
          <p:cNvSpPr/>
          <p:nvPr/>
        </p:nvSpPr>
        <p:spPr>
          <a:xfrm>
            <a:off x="8232644" y="2442121"/>
            <a:ext cx="312249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-0.13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6"/>
          <p:cNvSpPr/>
          <p:nvPr/>
        </p:nvSpPr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6"/>
          <p:cNvSpPr/>
          <p:nvPr/>
        </p:nvSpPr>
        <p:spPr>
          <a:xfrm>
            <a:off x="365745" y="4823892"/>
            <a:ext cx="79468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Olga Shopieva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6"/>
          <p:cNvSpPr/>
          <p:nvPr/>
        </p:nvSpPr>
        <p:spPr>
          <a:xfrm>
            <a:off x="6974309" y="4823892"/>
            <a:ext cx="189817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IBM HR Analytics Employee Attrition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6"/>
          <p:cNvSpPr/>
          <p:nvPr/>
        </p:nvSpPr>
        <p:spPr>
          <a:xfrm>
            <a:off x="8481864" y="4823892"/>
            <a:ext cx="8965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·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6"/>
          <p:cNvSpPr/>
          <p:nvPr/>
        </p:nvSpPr>
        <p:spPr>
          <a:xfrm>
            <a:off x="8598247" y="4823892"/>
            <a:ext cx="291160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4 / 8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97" name="Google Shape;197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98" name="Google Shape;198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7"/>
          <p:cNvSpPr/>
          <p:nvPr/>
        </p:nvSpPr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7"/>
          <p:cNvSpPr/>
          <p:nvPr/>
        </p:nvSpPr>
        <p:spPr>
          <a:xfrm>
            <a:off x="366675" y="206611"/>
            <a:ext cx="180975" cy="180975"/>
          </a:xfrm>
          <a:prstGeom prst="roundRect">
            <a:avLst>
              <a:gd fmla="val 20211" name="adj"/>
            </a:avLst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7"/>
          <p:cNvSpPr/>
          <p:nvPr/>
        </p:nvSpPr>
        <p:spPr>
          <a:xfrm>
            <a:off x="639961" y="229046"/>
            <a:ext cx="1382174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60"/>
              <a:buFont typeface="Inter"/>
              <a:buNone/>
            </a:pPr>
            <a:r>
              <a:rPr b="1" i="0" lang="en-US" sz="8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ADABI 2025–2026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7"/>
          <p:cNvSpPr/>
          <p:nvPr/>
        </p:nvSpPr>
        <p:spPr>
          <a:xfrm>
            <a:off x="6966347" y="238051"/>
            <a:ext cx="1049588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PREPROCESSING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7"/>
          <p:cNvSpPr/>
          <p:nvPr/>
        </p:nvSpPr>
        <p:spPr>
          <a:xfrm>
            <a:off x="7912596" y="238051"/>
            <a:ext cx="11825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IBM HR ANALYTICS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7"/>
          <p:cNvSpPr/>
          <p:nvPr/>
        </p:nvSpPr>
        <p:spPr>
          <a:xfrm>
            <a:off x="365745" y="664666"/>
            <a:ext cx="1256608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PREPROCESSING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7"/>
          <p:cNvSpPr/>
          <p:nvPr/>
        </p:nvSpPr>
        <p:spPr>
          <a:xfrm>
            <a:off x="365745" y="823317"/>
            <a:ext cx="3629695" cy="3333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160"/>
              <a:buFont typeface="Inter"/>
              <a:buNone/>
            </a:pPr>
            <a:r>
              <a:rPr b="1" i="0" lang="en-US" sz="21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Preparazione dei dati</a:t>
            </a:r>
            <a:endParaRPr b="0" i="0" sz="21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7"/>
          <p:cNvSpPr/>
          <p:nvPr/>
        </p:nvSpPr>
        <p:spPr>
          <a:xfrm>
            <a:off x="365745" y="1199406"/>
            <a:ext cx="3799954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860"/>
              <a:buFont typeface="Inter"/>
              <a:buNone/>
            </a:pPr>
            <a:r>
              <a:rPr b="0" i="0" lang="en-US" sz="86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Preparazione dei dati per i modelli di Machine Learning.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7"/>
          <p:cNvSpPr/>
          <p:nvPr/>
        </p:nvSpPr>
        <p:spPr>
          <a:xfrm>
            <a:off x="365745" y="1478905"/>
            <a:ext cx="4114800" cy="1457325"/>
          </a:xfrm>
          <a:prstGeom prst="roundRect">
            <a:avLst>
              <a:gd fmla="val 6275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9525">
              <a:srgbClr val="1E3A5F">
                <a:alpha val="588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7"/>
          <p:cNvSpPr/>
          <p:nvPr/>
        </p:nvSpPr>
        <p:spPr>
          <a:xfrm>
            <a:off x="553789" y="1612106"/>
            <a:ext cx="319088" cy="319088"/>
          </a:xfrm>
          <a:prstGeom prst="roundRect">
            <a:avLst>
              <a:gd fmla="val 22925" name="adj"/>
            </a:avLst>
          </a:prstGeom>
          <a:solidFill>
            <a:srgbClr val="0D9488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7"/>
          <p:cNvSpPr/>
          <p:nvPr/>
        </p:nvSpPr>
        <p:spPr>
          <a:xfrm>
            <a:off x="683047" y="1687860"/>
            <a:ext cx="135895" cy="166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080"/>
              <a:buFont typeface="Inter"/>
              <a:buNone/>
            </a:pPr>
            <a:r>
              <a:rPr b="1" i="0" lang="en-US" sz="108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7"/>
          <p:cNvSpPr/>
          <p:nvPr/>
        </p:nvSpPr>
        <p:spPr>
          <a:xfrm>
            <a:off x="1010469" y="1625947"/>
            <a:ext cx="1075804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Split stratificato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7"/>
          <p:cNvSpPr/>
          <p:nvPr/>
        </p:nvSpPr>
        <p:spPr>
          <a:xfrm>
            <a:off x="1010469" y="1813173"/>
            <a:ext cx="2813804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80% training (1.176 righe) e 20% test (294 righe).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7"/>
          <p:cNvSpPr/>
          <p:nvPr/>
        </p:nvSpPr>
        <p:spPr>
          <a:xfrm>
            <a:off x="1010469" y="1975991"/>
            <a:ext cx="151112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stratify=y · random_state=42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7"/>
          <p:cNvSpPr/>
          <p:nvPr/>
        </p:nvSpPr>
        <p:spPr>
          <a:xfrm>
            <a:off x="4663418" y="1478905"/>
            <a:ext cx="4114800" cy="1457325"/>
          </a:xfrm>
          <a:prstGeom prst="roundRect">
            <a:avLst>
              <a:gd fmla="val 6275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9525">
              <a:srgbClr val="1E3A5F">
                <a:alpha val="588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7"/>
          <p:cNvSpPr/>
          <p:nvPr/>
        </p:nvSpPr>
        <p:spPr>
          <a:xfrm>
            <a:off x="4851425" y="1612106"/>
            <a:ext cx="319088" cy="319088"/>
          </a:xfrm>
          <a:prstGeom prst="roundRect">
            <a:avLst>
              <a:gd fmla="val 22925" name="adj"/>
            </a:avLst>
          </a:prstGeom>
          <a:solidFill>
            <a:srgbClr val="0D9488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7"/>
          <p:cNvSpPr/>
          <p:nvPr/>
        </p:nvSpPr>
        <p:spPr>
          <a:xfrm>
            <a:off x="4967213" y="1687860"/>
            <a:ext cx="170914" cy="166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080"/>
              <a:buFont typeface="Inter"/>
              <a:buNone/>
            </a:pPr>
            <a:r>
              <a:rPr b="1" i="0" lang="en-US" sz="108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7"/>
          <p:cNvSpPr/>
          <p:nvPr/>
        </p:nvSpPr>
        <p:spPr>
          <a:xfrm>
            <a:off x="5308104" y="1625947"/>
            <a:ext cx="1234358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One-Hot Encoding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7"/>
          <p:cNvSpPr/>
          <p:nvPr/>
        </p:nvSpPr>
        <p:spPr>
          <a:xfrm>
            <a:off x="5308104" y="1813173"/>
            <a:ext cx="2823962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7 variabili categoriche trasformate in colonne 0/1.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"/>
          <p:cNvSpPr/>
          <p:nvPr/>
        </p:nvSpPr>
        <p:spPr>
          <a:xfrm>
            <a:off x="5308104" y="1975991"/>
            <a:ext cx="1112855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28 → 41 feature totali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7"/>
          <p:cNvSpPr/>
          <p:nvPr/>
        </p:nvSpPr>
        <p:spPr>
          <a:xfrm>
            <a:off x="365745" y="3120293"/>
            <a:ext cx="4114800" cy="1457325"/>
          </a:xfrm>
          <a:prstGeom prst="roundRect">
            <a:avLst>
              <a:gd fmla="val 6275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9525">
              <a:srgbClr val="1E3A5F">
                <a:alpha val="588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7"/>
          <p:cNvSpPr/>
          <p:nvPr/>
        </p:nvSpPr>
        <p:spPr>
          <a:xfrm>
            <a:off x="553789" y="3253457"/>
            <a:ext cx="319088" cy="319088"/>
          </a:xfrm>
          <a:prstGeom prst="roundRect">
            <a:avLst>
              <a:gd fmla="val 22925" name="adj"/>
            </a:avLst>
          </a:prstGeom>
          <a:solidFill>
            <a:srgbClr val="0D9488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7"/>
          <p:cNvSpPr/>
          <p:nvPr/>
        </p:nvSpPr>
        <p:spPr>
          <a:xfrm>
            <a:off x="668238" y="3329211"/>
            <a:ext cx="174300" cy="166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080"/>
              <a:buFont typeface="Inter"/>
              <a:buNone/>
            </a:pPr>
            <a:r>
              <a:rPr b="1" i="0" lang="en-US" sz="108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7"/>
          <p:cNvSpPr/>
          <p:nvPr/>
        </p:nvSpPr>
        <p:spPr>
          <a:xfrm>
            <a:off x="1010469" y="3267298"/>
            <a:ext cx="1249836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Standardizzazione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7"/>
          <p:cNvSpPr/>
          <p:nvPr/>
        </p:nvSpPr>
        <p:spPr>
          <a:xfrm>
            <a:off x="1010469" y="3454524"/>
            <a:ext cx="275179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StandardScaler: media 0, deviazione standard 1.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"/>
          <p:cNvSpPr/>
          <p:nvPr/>
        </p:nvSpPr>
        <p:spPr>
          <a:xfrm>
            <a:off x="1010469" y="3617342"/>
            <a:ext cx="2225442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Fondamentale per la Regressione Logistica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31" name="Google Shape;231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63418" y="3120293"/>
            <a:ext cx="4114800" cy="1457325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19050">
              <a:srgbClr val="1E3A5F">
                <a:alpha val="14902"/>
              </a:srgbClr>
            </a:outerShdw>
          </a:effectLst>
        </p:spPr>
      </p:pic>
      <p:sp>
        <p:nvSpPr>
          <p:cNvPr id="232" name="Google Shape;232;p7"/>
          <p:cNvSpPr/>
          <p:nvPr/>
        </p:nvSpPr>
        <p:spPr>
          <a:xfrm>
            <a:off x="4846662" y="3248695"/>
            <a:ext cx="319088" cy="319088"/>
          </a:xfrm>
          <a:prstGeom prst="roundRect">
            <a:avLst>
              <a:gd fmla="val 22925" name="adj"/>
            </a:avLst>
          </a:prstGeom>
          <a:solidFill>
            <a:srgbClr val="FFFFFF">
              <a:alpha val="1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7"/>
          <p:cNvSpPr/>
          <p:nvPr/>
        </p:nvSpPr>
        <p:spPr>
          <a:xfrm>
            <a:off x="4958953" y="3324448"/>
            <a:ext cx="179911" cy="166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80"/>
              <a:buFont typeface="Inter"/>
              <a:buNone/>
            </a:pPr>
            <a:r>
              <a:rPr b="1" i="0" lang="en-US" sz="108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4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7"/>
          <p:cNvSpPr/>
          <p:nvPr/>
        </p:nvSpPr>
        <p:spPr>
          <a:xfrm>
            <a:off x="5303341" y="3262536"/>
            <a:ext cx="1710697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class_weight="balanced"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"/>
          <p:cNvSpPr/>
          <p:nvPr/>
        </p:nvSpPr>
        <p:spPr>
          <a:xfrm>
            <a:off x="5303341" y="3449762"/>
            <a:ext cx="3839230" cy="2514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FEFEFE"/>
                </a:solidFill>
                <a:latin typeface="Inter"/>
                <a:ea typeface="Inter"/>
                <a:cs typeface="Inter"/>
                <a:sym typeface="Inter"/>
              </a:rPr>
              <a:t>Compensa lo sbilanciamento 84% / 16% dando piu peso alla classe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FEFEFE"/>
                </a:solidFill>
                <a:latin typeface="Inter"/>
                <a:ea typeface="Inter"/>
                <a:cs typeface="Inter"/>
                <a:sym typeface="Inter"/>
              </a:rPr>
              <a:t>minoritaria.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7"/>
          <p:cNvSpPr/>
          <p:nvPr/>
        </p:nvSpPr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7"/>
          <p:cNvSpPr/>
          <p:nvPr/>
        </p:nvSpPr>
        <p:spPr>
          <a:xfrm>
            <a:off x="365745" y="4823892"/>
            <a:ext cx="79468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Olga Shopieva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7"/>
          <p:cNvSpPr/>
          <p:nvPr/>
        </p:nvSpPr>
        <p:spPr>
          <a:xfrm>
            <a:off x="6978700" y="4823892"/>
            <a:ext cx="189817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IBM HR Analytics Employee Attrition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7"/>
          <p:cNvSpPr/>
          <p:nvPr/>
        </p:nvSpPr>
        <p:spPr>
          <a:xfrm>
            <a:off x="8486254" y="4823892"/>
            <a:ext cx="8965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·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7"/>
          <p:cNvSpPr/>
          <p:nvPr/>
        </p:nvSpPr>
        <p:spPr>
          <a:xfrm>
            <a:off x="8602638" y="4823892"/>
            <a:ext cx="285452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5 / 8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41" name="Google Shape;24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42" name="Google Shape;242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8"/>
          <p:cNvSpPr/>
          <p:nvPr/>
        </p:nvSpPr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8"/>
          <p:cNvSpPr/>
          <p:nvPr/>
        </p:nvSpPr>
        <p:spPr>
          <a:xfrm>
            <a:off x="366675" y="206611"/>
            <a:ext cx="180975" cy="180975"/>
          </a:xfrm>
          <a:prstGeom prst="roundRect">
            <a:avLst>
              <a:gd fmla="val 20211" name="adj"/>
            </a:avLst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8"/>
          <p:cNvSpPr/>
          <p:nvPr/>
        </p:nvSpPr>
        <p:spPr>
          <a:xfrm>
            <a:off x="639961" y="229046"/>
            <a:ext cx="1382174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60"/>
              <a:buFont typeface="Inter"/>
              <a:buNone/>
            </a:pPr>
            <a:r>
              <a:rPr b="1" i="0" lang="en-US" sz="8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ADABI 2025–2026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8"/>
          <p:cNvSpPr/>
          <p:nvPr/>
        </p:nvSpPr>
        <p:spPr>
          <a:xfrm>
            <a:off x="6917531" y="238051"/>
            <a:ext cx="1113048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CLASSIFICAZIONE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8"/>
          <p:cNvSpPr/>
          <p:nvPr/>
        </p:nvSpPr>
        <p:spPr>
          <a:xfrm>
            <a:off x="7912596" y="238051"/>
            <a:ext cx="11825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IBM HR ANALYTICS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8"/>
          <p:cNvSpPr/>
          <p:nvPr/>
        </p:nvSpPr>
        <p:spPr>
          <a:xfrm>
            <a:off x="365745" y="1197248"/>
            <a:ext cx="855047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MODELLO 1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8"/>
          <p:cNvSpPr/>
          <p:nvPr/>
        </p:nvSpPr>
        <p:spPr>
          <a:xfrm>
            <a:off x="365745" y="1355899"/>
            <a:ext cx="3241677" cy="2809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800"/>
              <a:buFont typeface="Inter"/>
              <a:buNone/>
            </a:pPr>
            <a:r>
              <a:rPr b="1" i="0" lang="en-US" sz="18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Regressione Logistica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8"/>
          <p:cNvSpPr/>
          <p:nvPr/>
        </p:nvSpPr>
        <p:spPr>
          <a:xfrm>
            <a:off x="365745" y="1696864"/>
            <a:ext cx="4003104" cy="28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379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790"/>
              <a:buFont typeface="Inter"/>
              <a:buNone/>
            </a:pPr>
            <a:r>
              <a:rPr b="0" i="0" lang="en-US" sz="79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Modello semplice e interpretabile, buon punto di partenza per la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60379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790"/>
              <a:buFont typeface="Inter"/>
              <a:buNone/>
            </a:pPr>
            <a:r>
              <a:rPr b="0" i="0" lang="en-US" sz="79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classificazione binaria.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8"/>
          <p:cNvSpPr/>
          <p:nvPr/>
        </p:nvSpPr>
        <p:spPr>
          <a:xfrm>
            <a:off x="365261" y="2205224"/>
            <a:ext cx="4024312" cy="1304925"/>
          </a:xfrm>
          <a:prstGeom prst="roundRect">
            <a:avLst>
              <a:gd fmla="val 7007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9525">
              <a:srgbClr val="1E3A5F">
                <a:alpha val="588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8"/>
          <p:cNvSpPr/>
          <p:nvPr/>
        </p:nvSpPr>
        <p:spPr>
          <a:xfrm>
            <a:off x="553343" y="2348285"/>
            <a:ext cx="219564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TUNING SOGLIA (CROSS-VAL 5-FOLD)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8"/>
          <p:cNvSpPr/>
          <p:nvPr/>
        </p:nvSpPr>
        <p:spPr>
          <a:xfrm>
            <a:off x="553380" y="2564904"/>
            <a:ext cx="3648075" cy="233362"/>
          </a:xfrm>
          <a:prstGeom prst="roundRect">
            <a:avLst>
              <a:gd fmla="val 19592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8"/>
          <p:cNvSpPr/>
          <p:nvPr/>
        </p:nvSpPr>
        <p:spPr>
          <a:xfrm>
            <a:off x="663029" y="2625998"/>
            <a:ext cx="590178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Soglia 0.4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8"/>
          <p:cNvSpPr/>
          <p:nvPr/>
        </p:nvSpPr>
        <p:spPr>
          <a:xfrm>
            <a:off x="3716685" y="2625998"/>
            <a:ext cx="544808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F1: 0.459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8"/>
          <p:cNvSpPr/>
          <p:nvPr/>
        </p:nvSpPr>
        <p:spPr>
          <a:xfrm>
            <a:off x="553380" y="2849389"/>
            <a:ext cx="3648075" cy="233362"/>
          </a:xfrm>
          <a:prstGeom prst="roundRect">
            <a:avLst>
              <a:gd fmla="val 19592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8"/>
          <p:cNvSpPr/>
          <p:nvPr/>
        </p:nvSpPr>
        <p:spPr>
          <a:xfrm>
            <a:off x="663029" y="2910483"/>
            <a:ext cx="582632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Soglia 0.5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8"/>
          <p:cNvSpPr/>
          <p:nvPr/>
        </p:nvSpPr>
        <p:spPr>
          <a:xfrm>
            <a:off x="3713559" y="2910483"/>
            <a:ext cx="548871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F1: 0.480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8"/>
          <p:cNvSpPr/>
          <p:nvPr/>
        </p:nvSpPr>
        <p:spPr>
          <a:xfrm>
            <a:off x="553380" y="3133874"/>
            <a:ext cx="3648075" cy="242888"/>
          </a:xfrm>
          <a:prstGeom prst="roundRect">
            <a:avLst>
              <a:gd fmla="val 18823" name="adj"/>
            </a:avLst>
          </a:prstGeom>
          <a:solidFill>
            <a:srgbClr val="0D9488">
              <a:alpha val="7843"/>
            </a:srgbClr>
          </a:solidFill>
          <a:ln cap="flat" cmpd="sng" w="9525">
            <a:solidFill>
              <a:srgbClr val="0D948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8"/>
          <p:cNvSpPr/>
          <p:nvPr/>
        </p:nvSpPr>
        <p:spPr>
          <a:xfrm>
            <a:off x="667792" y="3199730"/>
            <a:ext cx="1054135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680"/>
              <a:buFont typeface="Inter"/>
              <a:buNone/>
            </a:pPr>
            <a:r>
              <a:rPr b="1" i="0" lang="en-US" sz="68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Soglia 0.6 (scelta)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8"/>
          <p:cNvSpPr/>
          <p:nvPr/>
        </p:nvSpPr>
        <p:spPr>
          <a:xfrm>
            <a:off x="3705299" y="3199730"/>
            <a:ext cx="553417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680"/>
              <a:buFont typeface="Inter"/>
              <a:buNone/>
            </a:pPr>
            <a:r>
              <a:rPr b="1" i="0" lang="en-US" sz="68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F1: 0.527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8"/>
          <p:cNvSpPr/>
          <p:nvPr/>
        </p:nvSpPr>
        <p:spPr>
          <a:xfrm>
            <a:off x="365261" y="3612505"/>
            <a:ext cx="4024312" cy="433388"/>
          </a:xfrm>
          <a:prstGeom prst="roundRect">
            <a:avLst>
              <a:gd fmla="val 16879" name="adj"/>
            </a:avLst>
          </a:prstGeom>
          <a:solidFill>
            <a:srgbClr val="0D9488">
              <a:alpha val="5882"/>
            </a:srgbClr>
          </a:solidFill>
          <a:ln cap="flat" cmpd="sng" w="9525">
            <a:solidFill>
              <a:srgbClr val="0D9488">
                <a:alpha val="14902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8"/>
          <p:cNvSpPr/>
          <p:nvPr/>
        </p:nvSpPr>
        <p:spPr>
          <a:xfrm>
            <a:off x="507653" y="3704183"/>
            <a:ext cx="994157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680"/>
              <a:buFont typeface="Inter"/>
              <a:buNone/>
            </a:pPr>
            <a:r>
              <a:rPr b="1" i="0" lang="en-US" sz="68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Scelta: soglia 0.6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8"/>
          <p:cNvSpPr/>
          <p:nvPr/>
        </p:nvSpPr>
        <p:spPr>
          <a:xfrm>
            <a:off x="507653" y="3849812"/>
            <a:ext cx="2826670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Miglior F1 (0.527) con buon equilibrio Precision / Recall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8"/>
          <p:cNvSpPr/>
          <p:nvPr/>
        </p:nvSpPr>
        <p:spPr>
          <a:xfrm>
            <a:off x="4754835" y="1277764"/>
            <a:ext cx="881167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MODELLO 2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8"/>
          <p:cNvSpPr/>
          <p:nvPr/>
        </p:nvSpPr>
        <p:spPr>
          <a:xfrm>
            <a:off x="4754835" y="1436415"/>
            <a:ext cx="2221185" cy="2809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800"/>
              <a:buFont typeface="Inter"/>
              <a:buNone/>
            </a:pPr>
            <a:r>
              <a:rPr b="1" i="0" lang="en-US" sz="18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Random Forest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8"/>
          <p:cNvSpPr/>
          <p:nvPr/>
        </p:nvSpPr>
        <p:spPr>
          <a:xfrm>
            <a:off x="4754835" y="1777380"/>
            <a:ext cx="5200821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790"/>
              <a:buFont typeface="Inter"/>
              <a:buNone/>
            </a:pPr>
            <a:r>
              <a:rPr b="0" i="0" lang="en-US" sz="79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300 alberi decisionali, piu complesso ma capace di catturare interazioni non lineari.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8"/>
          <p:cNvSpPr/>
          <p:nvPr/>
        </p:nvSpPr>
        <p:spPr>
          <a:xfrm>
            <a:off x="4754389" y="2124782"/>
            <a:ext cx="4024312" cy="1304925"/>
          </a:xfrm>
          <a:prstGeom prst="roundRect">
            <a:avLst>
              <a:gd fmla="val 7007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9525">
              <a:srgbClr val="1E3A5F">
                <a:alpha val="588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8"/>
          <p:cNvSpPr/>
          <p:nvPr/>
        </p:nvSpPr>
        <p:spPr>
          <a:xfrm>
            <a:off x="4942433" y="2267843"/>
            <a:ext cx="219564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TUNING SOGLIA (CROSS-VAL 5-FOLD)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8"/>
          <p:cNvSpPr/>
          <p:nvPr/>
        </p:nvSpPr>
        <p:spPr>
          <a:xfrm>
            <a:off x="4942508" y="2484462"/>
            <a:ext cx="3648075" cy="242888"/>
          </a:xfrm>
          <a:prstGeom prst="roundRect">
            <a:avLst>
              <a:gd fmla="val 18823" name="adj"/>
            </a:avLst>
          </a:prstGeom>
          <a:solidFill>
            <a:srgbClr val="1E3A5F">
              <a:alpha val="5882"/>
            </a:srgbClr>
          </a:solidFill>
          <a:ln cap="flat" cmpd="sng" w="9525">
            <a:solidFill>
              <a:srgbClr val="1E3A5F">
                <a:alpha val="12157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8"/>
          <p:cNvSpPr/>
          <p:nvPr/>
        </p:nvSpPr>
        <p:spPr>
          <a:xfrm>
            <a:off x="5056882" y="2550319"/>
            <a:ext cx="1055199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680"/>
              <a:buFont typeface="Inter"/>
              <a:buNone/>
            </a:pPr>
            <a:r>
              <a:rPr b="1" i="0" lang="en-US" sz="68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Soglia 0.2 (scelta)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8"/>
          <p:cNvSpPr/>
          <p:nvPr/>
        </p:nvSpPr>
        <p:spPr>
          <a:xfrm>
            <a:off x="8106221" y="2550319"/>
            <a:ext cx="538133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680"/>
              <a:buFont typeface="Inter"/>
              <a:buNone/>
            </a:pPr>
            <a:r>
              <a:rPr b="1" i="0" lang="en-US" sz="68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F1: 0.531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8"/>
          <p:cNvSpPr/>
          <p:nvPr/>
        </p:nvSpPr>
        <p:spPr>
          <a:xfrm>
            <a:off x="4942508" y="2778472"/>
            <a:ext cx="3648075" cy="233362"/>
          </a:xfrm>
          <a:prstGeom prst="roundRect">
            <a:avLst>
              <a:gd fmla="val 19592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8"/>
          <p:cNvSpPr/>
          <p:nvPr/>
        </p:nvSpPr>
        <p:spPr>
          <a:xfrm>
            <a:off x="5052120" y="2839566"/>
            <a:ext cx="583987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Soglia 0.3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8"/>
          <p:cNvSpPr/>
          <p:nvPr/>
        </p:nvSpPr>
        <p:spPr>
          <a:xfrm>
            <a:off x="8109124" y="2839566"/>
            <a:ext cx="540551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F1: 0.472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8"/>
          <p:cNvSpPr/>
          <p:nvPr/>
        </p:nvSpPr>
        <p:spPr>
          <a:xfrm>
            <a:off x="4942508" y="3062957"/>
            <a:ext cx="3648075" cy="233362"/>
          </a:xfrm>
          <a:prstGeom prst="roundRect">
            <a:avLst>
              <a:gd fmla="val 19592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8"/>
          <p:cNvSpPr/>
          <p:nvPr/>
        </p:nvSpPr>
        <p:spPr>
          <a:xfrm>
            <a:off x="5052120" y="3124051"/>
            <a:ext cx="590178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Soglia 0.4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8"/>
          <p:cNvSpPr/>
          <p:nvPr/>
        </p:nvSpPr>
        <p:spPr>
          <a:xfrm>
            <a:off x="8103468" y="3124051"/>
            <a:ext cx="547903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F1: 0.420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8"/>
          <p:cNvSpPr/>
          <p:nvPr/>
        </p:nvSpPr>
        <p:spPr>
          <a:xfrm>
            <a:off x="4754389" y="3532063"/>
            <a:ext cx="4024312" cy="433388"/>
          </a:xfrm>
          <a:prstGeom prst="roundRect">
            <a:avLst>
              <a:gd fmla="val 16879" name="adj"/>
            </a:avLst>
          </a:prstGeom>
          <a:solidFill>
            <a:srgbClr val="1E3A5F">
              <a:alpha val="5098"/>
            </a:srgbClr>
          </a:solidFill>
          <a:ln cap="flat" cmpd="sng" w="9525">
            <a:solidFill>
              <a:srgbClr val="1E3A5F">
                <a:alpha val="12157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8"/>
          <p:cNvSpPr/>
          <p:nvPr/>
        </p:nvSpPr>
        <p:spPr>
          <a:xfrm>
            <a:off x="4896743" y="3623742"/>
            <a:ext cx="995415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680"/>
              <a:buFont typeface="Inter"/>
              <a:buNone/>
            </a:pPr>
            <a:r>
              <a:rPr b="1" i="0" lang="en-US" sz="68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Scelta: soglia 0.2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8"/>
          <p:cNvSpPr/>
          <p:nvPr/>
        </p:nvSpPr>
        <p:spPr>
          <a:xfrm>
            <a:off x="4896743" y="3769370"/>
            <a:ext cx="3461370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RF e piu conservativo: serve soglia bassa per un recall comparabile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8"/>
          <p:cNvSpPr/>
          <p:nvPr/>
        </p:nvSpPr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8"/>
          <p:cNvSpPr/>
          <p:nvPr/>
        </p:nvSpPr>
        <p:spPr>
          <a:xfrm>
            <a:off x="365745" y="4823892"/>
            <a:ext cx="79468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Olga Shopieva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8"/>
          <p:cNvSpPr/>
          <p:nvPr/>
        </p:nvSpPr>
        <p:spPr>
          <a:xfrm>
            <a:off x="6976467" y="4823892"/>
            <a:ext cx="189817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IBM HR Analytics Employee Attrition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8"/>
          <p:cNvSpPr/>
          <p:nvPr/>
        </p:nvSpPr>
        <p:spPr>
          <a:xfrm>
            <a:off x="8484022" y="4823892"/>
            <a:ext cx="8965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·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8"/>
          <p:cNvSpPr/>
          <p:nvPr/>
        </p:nvSpPr>
        <p:spPr>
          <a:xfrm>
            <a:off x="8600405" y="4823892"/>
            <a:ext cx="28835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6 / 8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93" name="Google Shape;29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94" name="Google Shape;294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9"/>
          <p:cNvSpPr/>
          <p:nvPr/>
        </p:nvSpPr>
        <p:spPr>
          <a:xfrm>
            <a:off x="0" y="-319600"/>
            <a:ext cx="9144000" cy="51435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9"/>
          <p:cNvSpPr/>
          <p:nvPr/>
        </p:nvSpPr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9"/>
          <p:cNvSpPr/>
          <p:nvPr/>
        </p:nvSpPr>
        <p:spPr>
          <a:xfrm>
            <a:off x="366675" y="206611"/>
            <a:ext cx="180975" cy="180975"/>
          </a:xfrm>
          <a:prstGeom prst="roundRect">
            <a:avLst>
              <a:gd fmla="val 20211" name="adj"/>
            </a:avLst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9"/>
          <p:cNvSpPr/>
          <p:nvPr/>
        </p:nvSpPr>
        <p:spPr>
          <a:xfrm>
            <a:off x="639961" y="229046"/>
            <a:ext cx="1382174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60"/>
              <a:buFont typeface="Inter"/>
              <a:buNone/>
            </a:pPr>
            <a:r>
              <a:rPr b="1" i="0" lang="en-US" sz="8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ADABI 2025–2026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9"/>
          <p:cNvSpPr/>
          <p:nvPr/>
        </p:nvSpPr>
        <p:spPr>
          <a:xfrm>
            <a:off x="7282681" y="238051"/>
            <a:ext cx="638354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RISULTATI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9"/>
          <p:cNvSpPr/>
          <p:nvPr/>
        </p:nvSpPr>
        <p:spPr>
          <a:xfrm>
            <a:off x="7912596" y="238051"/>
            <a:ext cx="11825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IBM HR ANALYTICS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9"/>
          <p:cNvSpPr/>
          <p:nvPr/>
        </p:nvSpPr>
        <p:spPr>
          <a:xfrm>
            <a:off x="365745" y="664666"/>
            <a:ext cx="1815175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RISULTATI SUL TEST SET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9"/>
          <p:cNvSpPr/>
          <p:nvPr/>
        </p:nvSpPr>
        <p:spPr>
          <a:xfrm>
            <a:off x="365745" y="807913"/>
            <a:ext cx="3479073" cy="3333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160"/>
              <a:buFont typeface="Inter"/>
              <a:buNone/>
            </a:pPr>
            <a:r>
              <a:rPr b="1" i="0" lang="en-US" sz="21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Risultati sul Test Set</a:t>
            </a:r>
            <a:endParaRPr b="0" i="0" sz="21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9"/>
          <p:cNvSpPr/>
          <p:nvPr/>
        </p:nvSpPr>
        <p:spPr>
          <a:xfrm>
            <a:off x="365745" y="1168598"/>
            <a:ext cx="4433396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860"/>
              <a:buFont typeface="Inter"/>
              <a:buNone/>
            </a:pPr>
            <a:r>
              <a:rPr b="0" i="0" lang="en-US" sz="86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La Regressione Logistica ottiene il miglior equilibrio complessivo.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9"/>
          <p:cNvSpPr/>
          <p:nvPr/>
        </p:nvSpPr>
        <p:spPr>
          <a:xfrm>
            <a:off x="366713" y="1448209"/>
            <a:ext cx="8410575" cy="1257300"/>
          </a:xfrm>
          <a:prstGeom prst="roundRect">
            <a:avLst>
              <a:gd fmla="val 7273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9525">
              <a:srgbClr val="1E3A5F">
                <a:alpha val="588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9"/>
          <p:cNvSpPr/>
          <p:nvPr/>
        </p:nvSpPr>
        <p:spPr>
          <a:xfrm>
            <a:off x="371475" y="1452972"/>
            <a:ext cx="8401050" cy="276225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9"/>
          <p:cNvSpPr/>
          <p:nvPr/>
        </p:nvSpPr>
        <p:spPr>
          <a:xfrm>
            <a:off x="553343" y="1538883"/>
            <a:ext cx="611460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MODELLO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9"/>
          <p:cNvSpPr/>
          <p:nvPr/>
        </p:nvSpPr>
        <p:spPr>
          <a:xfrm>
            <a:off x="2999043" y="1538883"/>
            <a:ext cx="705877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DF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D2D8DF"/>
                </a:solidFill>
                <a:latin typeface="Inter"/>
                <a:ea typeface="Inter"/>
                <a:cs typeface="Inter"/>
                <a:sym typeface="Inter"/>
              </a:rPr>
              <a:t>ACCURACY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9"/>
          <p:cNvSpPr/>
          <p:nvPr/>
        </p:nvSpPr>
        <p:spPr>
          <a:xfrm>
            <a:off x="4189731" y="1538883"/>
            <a:ext cx="67308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DF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D2D8DF"/>
                </a:solidFill>
                <a:latin typeface="Inter"/>
                <a:ea typeface="Inter"/>
                <a:cs typeface="Inter"/>
                <a:sym typeface="Inter"/>
              </a:rPr>
              <a:t>PRECISION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9"/>
          <p:cNvSpPr/>
          <p:nvPr/>
        </p:nvSpPr>
        <p:spPr>
          <a:xfrm>
            <a:off x="5453167" y="1538883"/>
            <a:ext cx="49479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DF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D2D8DF"/>
                </a:solidFill>
                <a:latin typeface="Inter"/>
                <a:ea typeface="Inter"/>
                <a:cs typeface="Inter"/>
                <a:sym typeface="Inter"/>
              </a:rPr>
              <a:t>RECALL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9"/>
          <p:cNvSpPr/>
          <p:nvPr/>
        </p:nvSpPr>
        <p:spPr>
          <a:xfrm>
            <a:off x="6566379" y="1538883"/>
            <a:ext cx="616878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F1-SCORE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9"/>
          <p:cNvSpPr/>
          <p:nvPr/>
        </p:nvSpPr>
        <p:spPr>
          <a:xfrm>
            <a:off x="7749027" y="1538883"/>
            <a:ext cx="600239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2D8DF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D2D8DF"/>
                </a:solidFill>
                <a:latin typeface="Inter"/>
                <a:ea typeface="Inter"/>
                <a:cs typeface="Inter"/>
                <a:sym typeface="Inter"/>
              </a:rPr>
              <a:t>ROC-AUC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9"/>
          <p:cNvSpPr/>
          <p:nvPr/>
        </p:nvSpPr>
        <p:spPr>
          <a:xfrm>
            <a:off x="371475" y="1728713"/>
            <a:ext cx="8401050" cy="490537"/>
          </a:xfrm>
          <a:prstGeom prst="rect">
            <a:avLst/>
          </a:prstGeom>
          <a:solidFill>
            <a:srgbClr val="0D9488">
              <a:alpha val="392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9"/>
          <p:cNvSpPr/>
          <p:nvPr/>
        </p:nvSpPr>
        <p:spPr>
          <a:xfrm>
            <a:off x="553343" y="1847031"/>
            <a:ext cx="1464499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Regressione Logistica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9"/>
          <p:cNvSpPr/>
          <p:nvPr/>
        </p:nvSpPr>
        <p:spPr>
          <a:xfrm>
            <a:off x="553343" y="2003450"/>
            <a:ext cx="1027628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610"/>
              <a:buFont typeface="Inter"/>
              <a:buNone/>
            </a:pPr>
            <a:r>
              <a:rPr b="0" i="0" lang="en-US" sz="61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soglia 0.6 · vincitore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9"/>
          <p:cNvSpPr/>
          <p:nvPr/>
        </p:nvSpPr>
        <p:spPr>
          <a:xfrm>
            <a:off x="2996732" y="1856556"/>
            <a:ext cx="710424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81.3%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9"/>
          <p:cNvSpPr/>
          <p:nvPr/>
        </p:nvSpPr>
        <p:spPr>
          <a:xfrm>
            <a:off x="4148338" y="1856556"/>
            <a:ext cx="755794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43.5%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9"/>
          <p:cNvSpPr/>
          <p:nvPr/>
        </p:nvSpPr>
        <p:spPr>
          <a:xfrm>
            <a:off x="5339983" y="1856556"/>
            <a:ext cx="721162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57.4%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9"/>
          <p:cNvSpPr/>
          <p:nvPr/>
        </p:nvSpPr>
        <p:spPr>
          <a:xfrm>
            <a:off x="6489944" y="1856556"/>
            <a:ext cx="769821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49.5%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9"/>
          <p:cNvSpPr/>
          <p:nvPr/>
        </p:nvSpPr>
        <p:spPr>
          <a:xfrm>
            <a:off x="7757056" y="1856556"/>
            <a:ext cx="584180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0.811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9"/>
          <p:cNvSpPr/>
          <p:nvPr/>
        </p:nvSpPr>
        <p:spPr>
          <a:xfrm>
            <a:off x="553343" y="2335188"/>
            <a:ext cx="1014375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Random Forest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9"/>
          <p:cNvSpPr/>
          <p:nvPr/>
        </p:nvSpPr>
        <p:spPr>
          <a:xfrm>
            <a:off x="553343" y="2491606"/>
            <a:ext cx="1100666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10"/>
              <a:buFont typeface="Inter"/>
              <a:buNone/>
            </a:pPr>
            <a:r>
              <a:rPr b="0" i="0" lang="en-US" sz="61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300 alberi · soglia 0.2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9"/>
          <p:cNvSpPr/>
          <p:nvPr/>
        </p:nvSpPr>
        <p:spPr>
          <a:xfrm>
            <a:off x="2999623" y="2344713"/>
            <a:ext cx="704716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77.6%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9"/>
          <p:cNvSpPr/>
          <p:nvPr/>
        </p:nvSpPr>
        <p:spPr>
          <a:xfrm>
            <a:off x="4150359" y="2344713"/>
            <a:ext cx="751828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38.3%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9"/>
          <p:cNvSpPr/>
          <p:nvPr/>
        </p:nvSpPr>
        <p:spPr>
          <a:xfrm>
            <a:off x="5322957" y="2344713"/>
            <a:ext cx="755213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66.0%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9"/>
          <p:cNvSpPr/>
          <p:nvPr/>
        </p:nvSpPr>
        <p:spPr>
          <a:xfrm>
            <a:off x="6489859" y="2344713"/>
            <a:ext cx="769918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48.4%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9"/>
          <p:cNvSpPr/>
          <p:nvPr/>
        </p:nvSpPr>
        <p:spPr>
          <a:xfrm>
            <a:off x="7720887" y="2344713"/>
            <a:ext cx="656444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0.782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9"/>
          <p:cNvSpPr/>
          <p:nvPr/>
        </p:nvSpPr>
        <p:spPr>
          <a:xfrm>
            <a:off x="2214823" y="3157091"/>
            <a:ext cx="1481137" cy="400050"/>
          </a:xfrm>
          <a:prstGeom prst="roundRect">
            <a:avLst>
              <a:gd fmla="val 13714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9"/>
          <p:cNvSpPr/>
          <p:nvPr/>
        </p:nvSpPr>
        <p:spPr>
          <a:xfrm>
            <a:off x="3831394" y="3157091"/>
            <a:ext cx="1481137" cy="400050"/>
          </a:xfrm>
          <a:prstGeom prst="roundRect">
            <a:avLst>
              <a:gd fmla="val 13714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9"/>
          <p:cNvSpPr/>
          <p:nvPr/>
        </p:nvSpPr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9"/>
          <p:cNvSpPr/>
          <p:nvPr/>
        </p:nvSpPr>
        <p:spPr>
          <a:xfrm>
            <a:off x="365745" y="4823892"/>
            <a:ext cx="79468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Olga Shopieva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9"/>
          <p:cNvSpPr/>
          <p:nvPr/>
        </p:nvSpPr>
        <p:spPr>
          <a:xfrm>
            <a:off x="6981304" y="4823892"/>
            <a:ext cx="189817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IBM HR Analytics Employee Attrition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9"/>
          <p:cNvSpPr/>
          <p:nvPr/>
        </p:nvSpPr>
        <p:spPr>
          <a:xfrm>
            <a:off x="8488859" y="4823892"/>
            <a:ext cx="8965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·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9"/>
          <p:cNvSpPr/>
          <p:nvPr/>
        </p:nvSpPr>
        <p:spPr>
          <a:xfrm>
            <a:off x="8605242" y="4823892"/>
            <a:ext cx="282067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7 / 8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39" name="Google Shape;339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40" name="Google Shape;340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71475" y="1728713"/>
            <a:ext cx="8401050" cy="49053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41" name="Google Shape;341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342" name="Google Shape;342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53350" y="2765975"/>
            <a:ext cx="2797674" cy="1906325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pic>
      <p:pic>
        <p:nvPicPr>
          <p:cNvPr id="343" name="Google Shape;343;p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569600" y="2765975"/>
            <a:ext cx="5076576" cy="1906325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1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10"/>
          <p:cNvSpPr/>
          <p:nvPr/>
        </p:nvSpPr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10"/>
          <p:cNvSpPr/>
          <p:nvPr/>
        </p:nvSpPr>
        <p:spPr>
          <a:xfrm>
            <a:off x="366675" y="206611"/>
            <a:ext cx="180975" cy="180975"/>
          </a:xfrm>
          <a:prstGeom prst="roundRect">
            <a:avLst>
              <a:gd fmla="val 20211" name="adj"/>
            </a:avLst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10"/>
          <p:cNvSpPr/>
          <p:nvPr/>
        </p:nvSpPr>
        <p:spPr>
          <a:xfrm>
            <a:off x="639961" y="229046"/>
            <a:ext cx="1382174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60"/>
              <a:buFont typeface="Inter"/>
              <a:buNone/>
            </a:pPr>
            <a:r>
              <a:rPr b="1" i="0" lang="en-US" sz="8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ADABI 2025–2026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0"/>
          <p:cNvSpPr/>
          <p:nvPr/>
        </p:nvSpPr>
        <p:spPr>
          <a:xfrm>
            <a:off x="7089204" y="238051"/>
            <a:ext cx="889873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CONCLUSIONI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0"/>
          <p:cNvSpPr/>
          <p:nvPr/>
        </p:nvSpPr>
        <p:spPr>
          <a:xfrm>
            <a:off x="7912596" y="238051"/>
            <a:ext cx="11825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IBM HR ANALYTICS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0"/>
          <p:cNvSpPr/>
          <p:nvPr/>
        </p:nvSpPr>
        <p:spPr>
          <a:xfrm>
            <a:off x="365745" y="1241003"/>
            <a:ext cx="1062841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CONCLUSIONI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0"/>
          <p:cNvSpPr/>
          <p:nvPr/>
        </p:nvSpPr>
        <p:spPr>
          <a:xfrm>
            <a:off x="365745" y="1409998"/>
            <a:ext cx="1729948" cy="3333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160"/>
              <a:buFont typeface="Inter"/>
              <a:buNone/>
            </a:pPr>
            <a:r>
              <a:rPr b="1" i="0" lang="en-US" sz="21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Risultati e</a:t>
            </a:r>
            <a:endParaRPr b="0" i="0" sz="21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0"/>
          <p:cNvSpPr/>
          <p:nvPr/>
        </p:nvSpPr>
        <p:spPr>
          <a:xfrm>
            <a:off x="365745" y="1711672"/>
            <a:ext cx="2515270" cy="3333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160"/>
              <a:buFont typeface="Inter"/>
              <a:buNone/>
            </a:pPr>
            <a:r>
              <a:rPr b="1" i="0" lang="en-US" sz="21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prossimi passi</a:t>
            </a:r>
            <a:endParaRPr b="0" i="0" sz="21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0"/>
          <p:cNvSpPr/>
          <p:nvPr/>
        </p:nvSpPr>
        <p:spPr>
          <a:xfrm>
            <a:off x="365261" y="2135088"/>
            <a:ext cx="4024312" cy="1123950"/>
          </a:xfrm>
          <a:prstGeom prst="roundRect">
            <a:avLst>
              <a:gd fmla="val 8136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9525">
              <a:srgbClr val="1E3A5F">
                <a:alpha val="588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10"/>
          <p:cNvSpPr/>
          <p:nvPr/>
        </p:nvSpPr>
        <p:spPr>
          <a:xfrm>
            <a:off x="553343" y="2278112"/>
            <a:ext cx="135247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COSA ABBIAMO FATTO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0"/>
          <p:cNvSpPr/>
          <p:nvPr/>
        </p:nvSpPr>
        <p:spPr>
          <a:xfrm>
            <a:off x="553343" y="2463254"/>
            <a:ext cx="17594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—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0"/>
          <p:cNvSpPr/>
          <p:nvPr/>
        </p:nvSpPr>
        <p:spPr>
          <a:xfrm>
            <a:off x="717872" y="2463254"/>
            <a:ext cx="2800938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Esplorazione, pulizia e analisi del dataset IBM HR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0"/>
          <p:cNvSpPr/>
          <p:nvPr/>
        </p:nvSpPr>
        <p:spPr>
          <a:xfrm>
            <a:off x="553343" y="2641476"/>
            <a:ext cx="17594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—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0"/>
          <p:cNvSpPr/>
          <p:nvPr/>
        </p:nvSpPr>
        <p:spPr>
          <a:xfrm>
            <a:off x="717872" y="2641476"/>
            <a:ext cx="3136910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Split stratificato, One-Hot Encoding, standardizzazione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0"/>
          <p:cNvSpPr/>
          <p:nvPr/>
        </p:nvSpPr>
        <p:spPr>
          <a:xfrm>
            <a:off x="553343" y="2819698"/>
            <a:ext cx="17594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—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0"/>
          <p:cNvSpPr/>
          <p:nvPr/>
        </p:nvSpPr>
        <p:spPr>
          <a:xfrm>
            <a:off x="717872" y="2819698"/>
            <a:ext cx="2964039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Confronto Regressione Logistica vs. Random Forest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0"/>
          <p:cNvSpPr/>
          <p:nvPr/>
        </p:nvSpPr>
        <p:spPr>
          <a:xfrm>
            <a:off x="553343" y="2997919"/>
            <a:ext cx="17594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—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0"/>
          <p:cNvSpPr/>
          <p:nvPr/>
        </p:nvSpPr>
        <p:spPr>
          <a:xfrm>
            <a:off x="717872" y="2997919"/>
            <a:ext cx="25646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Feature importance: reddito, eta, straordinari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0"/>
          <p:cNvSpPr/>
          <p:nvPr/>
        </p:nvSpPr>
        <p:spPr>
          <a:xfrm>
            <a:off x="365261" y="3362734"/>
            <a:ext cx="4024312" cy="638175"/>
          </a:xfrm>
          <a:prstGeom prst="roundRect">
            <a:avLst>
              <a:gd fmla="val 14328" name="adj"/>
            </a:avLst>
          </a:prstGeom>
          <a:solidFill>
            <a:srgbClr val="FFFBEB"/>
          </a:solidFill>
          <a:ln cap="flat" cmpd="sng" w="9525">
            <a:solidFill>
              <a:srgbClr val="FDE6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10"/>
          <p:cNvSpPr/>
          <p:nvPr/>
        </p:nvSpPr>
        <p:spPr>
          <a:xfrm>
            <a:off x="553343" y="3478857"/>
            <a:ext cx="1233101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92400E"/>
                </a:solidFill>
                <a:latin typeface="Inter"/>
                <a:ea typeface="Inter"/>
                <a:cs typeface="Inter"/>
                <a:sym typeface="Inter"/>
              </a:rPr>
              <a:t>LIMITI DEL MODELLO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0"/>
          <p:cNvSpPr/>
          <p:nvPr/>
        </p:nvSpPr>
        <p:spPr>
          <a:xfrm>
            <a:off x="553343" y="3643387"/>
            <a:ext cx="4362100" cy="23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735"/>
              </a:lnSpc>
              <a:spcBef>
                <a:spcPts val="0"/>
              </a:spcBef>
              <a:spcAft>
                <a:spcPts val="0"/>
              </a:spcAft>
              <a:buClr>
                <a:srgbClr val="78350F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78350F"/>
                </a:solidFill>
                <a:latin typeface="Inter"/>
                <a:ea typeface="Inter"/>
                <a:cs typeface="Inter"/>
                <a:sym typeface="Inter"/>
              </a:rPr>
              <a:t>Dataset piccolo (1.470) e sbilanciato: la classe Yes ha pochi esempi, il recall sulla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735"/>
              </a:lnSpc>
              <a:spcBef>
                <a:spcPts val="0"/>
              </a:spcBef>
              <a:spcAft>
                <a:spcPts val="0"/>
              </a:spcAft>
              <a:buClr>
                <a:srgbClr val="78350F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78350F"/>
                </a:solidFill>
                <a:latin typeface="Inter"/>
                <a:ea typeface="Inter"/>
                <a:cs typeface="Inter"/>
                <a:sym typeface="Inter"/>
              </a:rPr>
              <a:t>minoranza rimane il limite principale.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0"/>
          <p:cNvSpPr/>
          <p:nvPr/>
        </p:nvSpPr>
        <p:spPr>
          <a:xfrm>
            <a:off x="4754835" y="1167333"/>
            <a:ext cx="1132203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SVILUPPI FUTURI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0"/>
          <p:cNvSpPr/>
          <p:nvPr/>
        </p:nvSpPr>
        <p:spPr>
          <a:xfrm>
            <a:off x="4754389" y="1388343"/>
            <a:ext cx="4024312" cy="633412"/>
          </a:xfrm>
          <a:prstGeom prst="roundRect">
            <a:avLst>
              <a:gd fmla="val 1154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5400000" dist="9525">
              <a:srgbClr val="1E3A5F">
                <a:alpha val="392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10"/>
          <p:cNvSpPr/>
          <p:nvPr/>
        </p:nvSpPr>
        <p:spPr>
          <a:xfrm>
            <a:off x="4924127" y="1495127"/>
            <a:ext cx="228600" cy="228600"/>
          </a:xfrm>
          <a:prstGeom prst="ellipse">
            <a:avLst/>
          </a:prstGeom>
          <a:solidFill>
            <a:srgbClr val="0D9488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10"/>
          <p:cNvSpPr/>
          <p:nvPr/>
        </p:nvSpPr>
        <p:spPr>
          <a:xfrm>
            <a:off x="5018187" y="1550343"/>
            <a:ext cx="109679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0"/>
          <p:cNvSpPr/>
          <p:nvPr/>
        </p:nvSpPr>
        <p:spPr>
          <a:xfrm>
            <a:off x="5289872" y="1504652"/>
            <a:ext cx="1320745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60"/>
              <a:buFont typeface="Inter"/>
              <a:buNone/>
            </a:pPr>
            <a:r>
              <a:rPr b="1" i="0" lang="en-US" sz="7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Tuning iperparametri</a:t>
            </a:r>
            <a:endParaRPr b="0" i="0" sz="7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0"/>
          <p:cNvSpPr/>
          <p:nvPr/>
        </p:nvSpPr>
        <p:spPr>
          <a:xfrm>
            <a:off x="5289872" y="1664047"/>
            <a:ext cx="4329113" cy="23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735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GridSearchCV o RandomizedSearchCV per ottimizzare n_estimators, max_depth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735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e altri.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0"/>
          <p:cNvSpPr/>
          <p:nvPr/>
        </p:nvSpPr>
        <p:spPr>
          <a:xfrm>
            <a:off x="4754389" y="2115964"/>
            <a:ext cx="4024312" cy="633412"/>
          </a:xfrm>
          <a:prstGeom prst="roundRect">
            <a:avLst>
              <a:gd fmla="val 1154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5400000" dist="9525">
              <a:srgbClr val="1E3A5F">
                <a:alpha val="392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10"/>
          <p:cNvSpPr/>
          <p:nvPr/>
        </p:nvSpPr>
        <p:spPr>
          <a:xfrm>
            <a:off x="4924127" y="2222748"/>
            <a:ext cx="228600" cy="228600"/>
          </a:xfrm>
          <a:prstGeom prst="ellipse">
            <a:avLst/>
          </a:prstGeom>
          <a:solidFill>
            <a:srgbClr val="0D9488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10"/>
          <p:cNvSpPr/>
          <p:nvPr/>
        </p:nvSpPr>
        <p:spPr>
          <a:xfrm>
            <a:off x="5009257" y="2277963"/>
            <a:ext cx="132993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0"/>
          <p:cNvSpPr/>
          <p:nvPr/>
        </p:nvSpPr>
        <p:spPr>
          <a:xfrm>
            <a:off x="5289872" y="2232273"/>
            <a:ext cx="1256608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60"/>
              <a:buFont typeface="Inter"/>
              <a:buNone/>
            </a:pPr>
            <a:r>
              <a:rPr b="1" i="0" lang="en-US" sz="7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Modelli piu avanzati</a:t>
            </a:r>
            <a:endParaRPr b="0" i="0" sz="7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0"/>
          <p:cNvSpPr/>
          <p:nvPr/>
        </p:nvSpPr>
        <p:spPr>
          <a:xfrm>
            <a:off x="5289872" y="2391668"/>
            <a:ext cx="3806339" cy="23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735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Gradient Boosting, XGBoost per migliorare le performance sulla classe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735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minoritaria.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0"/>
          <p:cNvSpPr/>
          <p:nvPr/>
        </p:nvSpPr>
        <p:spPr>
          <a:xfrm>
            <a:off x="4754389" y="2842766"/>
            <a:ext cx="4024312" cy="504825"/>
          </a:xfrm>
          <a:prstGeom prst="roundRect">
            <a:avLst>
              <a:gd fmla="val 14491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5400000" dist="9525">
              <a:srgbClr val="1E3A5F">
                <a:alpha val="392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0"/>
          <p:cNvSpPr/>
          <p:nvPr/>
        </p:nvSpPr>
        <p:spPr>
          <a:xfrm>
            <a:off x="4924127" y="2950369"/>
            <a:ext cx="228600" cy="228600"/>
          </a:xfrm>
          <a:prstGeom prst="ellipse">
            <a:avLst/>
          </a:prstGeom>
          <a:solidFill>
            <a:srgbClr val="0D9488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10"/>
          <p:cNvSpPr/>
          <p:nvPr/>
        </p:nvSpPr>
        <p:spPr>
          <a:xfrm>
            <a:off x="5008364" y="3005584"/>
            <a:ext cx="135218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0"/>
          <p:cNvSpPr/>
          <p:nvPr/>
        </p:nvSpPr>
        <p:spPr>
          <a:xfrm>
            <a:off x="5289872" y="2959894"/>
            <a:ext cx="1267830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60"/>
              <a:buFont typeface="Inter"/>
              <a:buNone/>
            </a:pPr>
            <a:r>
              <a:rPr b="1" i="0" lang="en-US" sz="7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Feature engineering</a:t>
            </a:r>
            <a:endParaRPr b="0" i="0" sz="7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0"/>
          <p:cNvSpPr/>
          <p:nvPr/>
        </p:nvSpPr>
        <p:spPr>
          <a:xfrm>
            <a:off x="5289872" y="3119289"/>
            <a:ext cx="3881698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Nuove variabili derivate (es. rapporto anni nel ruolo vs. anzianita totale).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87" name="Google Shape;387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54389" y="3441167"/>
            <a:ext cx="4024312" cy="628650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19050">
              <a:srgbClr val="1E3A5F">
                <a:alpha val="14902"/>
              </a:srgbClr>
            </a:outerShdw>
          </a:effectLst>
        </p:spPr>
      </p:pic>
      <p:sp>
        <p:nvSpPr>
          <p:cNvPr id="388" name="Google Shape;388;p10"/>
          <p:cNvSpPr/>
          <p:nvPr/>
        </p:nvSpPr>
        <p:spPr>
          <a:xfrm>
            <a:off x="4919365" y="3552527"/>
            <a:ext cx="1061003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60"/>
              <a:buFont typeface="Inter"/>
              <a:buNone/>
            </a:pPr>
            <a:r>
              <a:rPr b="1" i="0" lang="en-US" sz="76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Applicazione HR</a:t>
            </a:r>
            <a:endParaRPr b="0" i="0" sz="7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0"/>
          <p:cNvSpPr/>
          <p:nvPr/>
        </p:nvSpPr>
        <p:spPr>
          <a:xfrm>
            <a:off x="4919365" y="3717057"/>
            <a:ext cx="4822671" cy="23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735"/>
              </a:lnSpc>
              <a:spcBef>
                <a:spcPts val="0"/>
              </a:spcBef>
              <a:spcAft>
                <a:spcPts val="0"/>
              </a:spcAft>
              <a:buClr>
                <a:srgbClr val="FEFEFF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FEFEFF"/>
                </a:solidFill>
                <a:latin typeface="Inter"/>
                <a:ea typeface="Inter"/>
                <a:cs typeface="Inter"/>
                <a:sym typeface="Inter"/>
              </a:rPr>
              <a:t>Sistema di early warning per identificare i dipendenti a rischio di abbandono e supportare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735"/>
              </a:lnSpc>
              <a:spcBef>
                <a:spcPts val="0"/>
              </a:spcBef>
              <a:spcAft>
                <a:spcPts val="0"/>
              </a:spcAft>
              <a:buClr>
                <a:srgbClr val="FEFEFF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FEFEFF"/>
                </a:solidFill>
                <a:latin typeface="Inter"/>
                <a:ea typeface="Inter"/>
                <a:cs typeface="Inter"/>
                <a:sym typeface="Inter"/>
              </a:rPr>
              <a:t>la retention.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0"/>
          <p:cNvSpPr/>
          <p:nvPr/>
        </p:nvSpPr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10"/>
          <p:cNvSpPr/>
          <p:nvPr/>
        </p:nvSpPr>
        <p:spPr>
          <a:xfrm>
            <a:off x="365745" y="4823892"/>
            <a:ext cx="79468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Olga Shopieva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0"/>
          <p:cNvSpPr/>
          <p:nvPr/>
        </p:nvSpPr>
        <p:spPr>
          <a:xfrm>
            <a:off x="6976542" y="4823892"/>
            <a:ext cx="189817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IBM HR Analytics Employee Attrition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0"/>
          <p:cNvSpPr/>
          <p:nvPr/>
        </p:nvSpPr>
        <p:spPr>
          <a:xfrm>
            <a:off x="8484096" y="4823892"/>
            <a:ext cx="8965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·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0"/>
          <p:cNvSpPr/>
          <p:nvPr/>
        </p:nvSpPr>
        <p:spPr>
          <a:xfrm>
            <a:off x="8600480" y="4823892"/>
            <a:ext cx="288258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8 / 8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95" name="Google Shape;395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96" name="Google Shape;396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1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11"/>
          <p:cNvSpPr/>
          <p:nvPr/>
        </p:nvSpPr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11"/>
          <p:cNvSpPr/>
          <p:nvPr/>
        </p:nvSpPr>
        <p:spPr>
          <a:xfrm>
            <a:off x="366675" y="206611"/>
            <a:ext cx="180975" cy="180975"/>
          </a:xfrm>
          <a:prstGeom prst="roundRect">
            <a:avLst>
              <a:gd fmla="val 20211" name="adj"/>
            </a:avLst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11"/>
          <p:cNvSpPr/>
          <p:nvPr/>
        </p:nvSpPr>
        <p:spPr>
          <a:xfrm>
            <a:off x="639961" y="229046"/>
            <a:ext cx="1382174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60"/>
              <a:buFont typeface="Inter"/>
              <a:buNone/>
            </a:pPr>
            <a:r>
              <a:rPr b="1" i="0" lang="en-US" sz="8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ADABI 2025–2026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1"/>
          <p:cNvSpPr/>
          <p:nvPr/>
        </p:nvSpPr>
        <p:spPr>
          <a:xfrm>
            <a:off x="7078489" y="238051"/>
            <a:ext cx="903803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STRUMENTI AI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1"/>
          <p:cNvSpPr/>
          <p:nvPr/>
        </p:nvSpPr>
        <p:spPr>
          <a:xfrm>
            <a:off x="7912596" y="238051"/>
            <a:ext cx="11825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IBM HR ANALYTICS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1"/>
          <p:cNvSpPr/>
          <p:nvPr/>
        </p:nvSpPr>
        <p:spPr>
          <a:xfrm>
            <a:off x="365745" y="1450925"/>
            <a:ext cx="2016197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INTELLIGENZA ARTIFICIALE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1"/>
          <p:cNvSpPr/>
          <p:nvPr/>
        </p:nvSpPr>
        <p:spPr>
          <a:xfrm>
            <a:off x="365745" y="1619920"/>
            <a:ext cx="1826880" cy="3333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160"/>
              <a:buFont typeface="Inter"/>
              <a:buNone/>
            </a:pPr>
            <a:r>
              <a:rPr b="1" i="0" lang="en-US" sz="21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AI usata in</a:t>
            </a:r>
            <a:endParaRPr b="0" i="0" sz="21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1"/>
          <p:cNvSpPr/>
          <p:nvPr/>
        </p:nvSpPr>
        <p:spPr>
          <a:xfrm>
            <a:off x="365745" y="1921594"/>
            <a:ext cx="2768531" cy="3333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160"/>
              <a:buFont typeface="Inter"/>
              <a:buNone/>
            </a:pPr>
            <a:r>
              <a:rPr b="1" i="0" lang="en-US" sz="21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questo progetto</a:t>
            </a:r>
            <a:endParaRPr b="0" i="0" sz="21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1"/>
          <p:cNvSpPr/>
          <p:nvPr/>
        </p:nvSpPr>
        <p:spPr>
          <a:xfrm>
            <a:off x="365250" y="2371800"/>
            <a:ext cx="7464300" cy="1246800"/>
          </a:xfrm>
          <a:prstGeom prst="roundRect">
            <a:avLst>
              <a:gd fmla="val 6443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11"/>
          <p:cNvSpPr/>
          <p:nvPr/>
        </p:nvSpPr>
        <p:spPr>
          <a:xfrm>
            <a:off x="557882" y="2534469"/>
            <a:ext cx="238125" cy="238125"/>
          </a:xfrm>
          <a:prstGeom prst="ellipse">
            <a:avLst/>
          </a:prstGeom>
          <a:solidFill>
            <a:srgbClr val="0D9488">
              <a:alpha val="7843"/>
            </a:srgbClr>
          </a:solidFill>
          <a:ln cap="flat" cmpd="sng" w="9525">
            <a:solidFill>
              <a:srgbClr val="0D9488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11"/>
          <p:cNvSpPr/>
          <p:nvPr/>
        </p:nvSpPr>
        <p:spPr>
          <a:xfrm>
            <a:off x="656704" y="2594446"/>
            <a:ext cx="109679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1"/>
          <p:cNvSpPr/>
          <p:nvPr/>
        </p:nvSpPr>
        <p:spPr>
          <a:xfrm>
            <a:off x="905600" y="2495375"/>
            <a:ext cx="6678000" cy="238200"/>
          </a:xfrm>
          <a:prstGeom prst="roundRect">
            <a:avLst>
              <a:gd fmla="val 50000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Google Gemini 3.5 Flash (per generare title image nella presentazione)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11"/>
          <p:cNvSpPr/>
          <p:nvPr/>
        </p:nvSpPr>
        <p:spPr>
          <a:xfrm>
            <a:off x="557882" y="2849240"/>
            <a:ext cx="238125" cy="238125"/>
          </a:xfrm>
          <a:prstGeom prst="ellipse">
            <a:avLst/>
          </a:prstGeom>
          <a:solidFill>
            <a:srgbClr val="0D9488">
              <a:alpha val="7843"/>
            </a:srgbClr>
          </a:solidFill>
          <a:ln cap="flat" cmpd="sng" w="9525">
            <a:solidFill>
              <a:srgbClr val="0D9488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11"/>
          <p:cNvSpPr/>
          <p:nvPr/>
        </p:nvSpPr>
        <p:spPr>
          <a:xfrm>
            <a:off x="647774" y="2909218"/>
            <a:ext cx="132993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1"/>
          <p:cNvSpPr/>
          <p:nvPr/>
        </p:nvSpPr>
        <p:spPr>
          <a:xfrm>
            <a:off x="557882" y="3164012"/>
            <a:ext cx="238125" cy="238125"/>
          </a:xfrm>
          <a:prstGeom prst="ellipse">
            <a:avLst/>
          </a:prstGeom>
          <a:solidFill>
            <a:srgbClr val="0D9488">
              <a:alpha val="7843"/>
            </a:srgbClr>
          </a:solidFill>
          <a:ln cap="flat" cmpd="sng" w="9525">
            <a:solidFill>
              <a:srgbClr val="0D9488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11"/>
          <p:cNvSpPr/>
          <p:nvPr/>
        </p:nvSpPr>
        <p:spPr>
          <a:xfrm>
            <a:off x="646881" y="3223989"/>
            <a:ext cx="135218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1"/>
          <p:cNvSpPr/>
          <p:nvPr/>
        </p:nvSpPr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11"/>
          <p:cNvSpPr/>
          <p:nvPr/>
        </p:nvSpPr>
        <p:spPr>
          <a:xfrm>
            <a:off x="365745" y="4823892"/>
            <a:ext cx="79468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Olga Shopieva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1"/>
          <p:cNvSpPr/>
          <p:nvPr/>
        </p:nvSpPr>
        <p:spPr>
          <a:xfrm>
            <a:off x="6976467" y="4823892"/>
            <a:ext cx="189817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IBM HR Analytics Employee Attrition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1"/>
          <p:cNvSpPr/>
          <p:nvPr/>
        </p:nvSpPr>
        <p:spPr>
          <a:xfrm>
            <a:off x="8484022" y="4823892"/>
            <a:ext cx="8965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·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1"/>
          <p:cNvSpPr/>
          <p:nvPr/>
        </p:nvSpPr>
        <p:spPr>
          <a:xfrm>
            <a:off x="8600405" y="4823892"/>
            <a:ext cx="28835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9 / 9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24" name="Google Shape;424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25" name="Google Shape;425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1"/>
          <p:cNvSpPr/>
          <p:nvPr/>
        </p:nvSpPr>
        <p:spPr>
          <a:xfrm>
            <a:off x="905600" y="2859600"/>
            <a:ext cx="6678000" cy="238200"/>
          </a:xfrm>
          <a:prstGeom prst="roundRect">
            <a:avLst>
              <a:gd fmla="val 50000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Claude Sonnet 5 (per il codice notebook)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1"/>
          <p:cNvSpPr/>
          <p:nvPr/>
        </p:nvSpPr>
        <p:spPr>
          <a:xfrm>
            <a:off x="905600" y="3186900"/>
            <a:ext cx="6678000" cy="204900"/>
          </a:xfrm>
          <a:prstGeom prst="roundRect">
            <a:avLst>
              <a:gd fmla="val 50000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sng" cap="none" strike="noStrike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5"/>
              </a:rPr>
              <a:t>replit.com</a:t>
            </a:r>
            <a:r>
              <a:rPr b="1" i="0" lang="en-US" sz="14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 (per creare presentazione Power Point)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11"/>
          <p:cNvSpPr/>
          <p:nvPr/>
        </p:nvSpPr>
        <p:spPr>
          <a:xfrm>
            <a:off x="365250" y="3953348"/>
            <a:ext cx="7464300" cy="441300"/>
          </a:xfrm>
          <a:prstGeom prst="roundRect">
            <a:avLst>
              <a:gd fmla="val 8136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9525">
              <a:srgbClr val="1E3A5F">
                <a:alpha val="588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14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L'elenco completo degli obiettivi e i prompts sono  disponibile al seguente </a:t>
            </a:r>
            <a:r>
              <a:rPr b="1" i="0" lang="en-US" sz="1400" u="sng" cap="none" strike="noStrike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6"/>
              </a:rPr>
              <a:t>link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