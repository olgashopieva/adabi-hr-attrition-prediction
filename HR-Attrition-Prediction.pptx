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51435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-bold.fntdata"/><Relationship Id="rId14" Type="http://schemas.openxmlformats.org/officeDocument/2006/relationships/font" Target="fonts/Inter-regular.fntdata"/><Relationship Id="rId17" Type="http://schemas.openxmlformats.org/officeDocument/2006/relationships/font" Target="fonts/Inter-boldItalic.fntdata"/><Relationship Id="rId16" Type="http://schemas.openxmlformats.org/officeDocument/2006/relationships/font" Target="fonts/Inter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2" name="Google Shape;14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9" name="Google Shape;35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olgashopieva.github.io/" TargetMode="External"/><Relationship Id="rId4" Type="http://schemas.openxmlformats.org/officeDocument/2006/relationships/hyperlink" Target="https://github.com/OlgaShopieva/adabi-hr-attrition-prediction" TargetMode="External"/><Relationship Id="rId5" Type="http://schemas.openxmlformats.org/officeDocument/2006/relationships/image" Target="../media/image13.png"/><Relationship Id="rId6" Type="http://schemas.openxmlformats.org/officeDocument/2006/relationships/image" Target="../media/image2.png"/><Relationship Id="rId7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24.png"/><Relationship Id="rId6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2.png"/><Relationship Id="rId4" Type="http://schemas.openxmlformats.org/officeDocument/2006/relationships/image" Target="../media/image13.png"/><Relationship Id="rId5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3.png"/><Relationship Id="rId4" Type="http://schemas.openxmlformats.org/officeDocument/2006/relationships/image" Target="../media/image13.png"/><Relationship Id="rId5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2.png"/><Relationship Id="rId5" Type="http://schemas.openxmlformats.org/officeDocument/2006/relationships/hyperlink" Target="http://replit.com" TargetMode="External"/><Relationship Id="rId6" Type="http://schemas.openxmlformats.org/officeDocument/2006/relationships/hyperlink" Target="https://github.com/OlgaShopieva/adabi-hr-attrition-prediction/blob/main/AI_Usati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814170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862664" y="238051"/>
            <a:ext cx="12474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65745" y="1221209"/>
            <a:ext cx="197527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CLASSIFICAZIONE 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365745" y="1411114"/>
            <a:ext cx="3320519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Progetto ML: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365745" y="1863775"/>
            <a:ext cx="4087170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IBM HR Attrition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365750" y="2441150"/>
            <a:ext cx="4395000" cy="70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Prevedere se un dipendente lascerà l'azienda — un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702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10"/>
              <a:buFont typeface="Inter"/>
              <a:buNone/>
            </a:pP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problema di classificazione applicato al</a:t>
            </a:r>
            <a:r>
              <a:rPr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11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dataset IBM HR Analytics.</a:t>
            </a:r>
            <a:endParaRPr b="0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356025" y="3383375"/>
            <a:ext cx="4522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Gruppo: ADABI 2025-2026</a:t>
            </a:r>
            <a:endParaRPr b="1" sz="151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Olga Shopieva </a:t>
            </a:r>
            <a:r>
              <a:rPr b="1" lang="en-US" sz="151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3"/>
              </a:rPr>
              <a:t>portfolio GitHub</a:t>
            </a:r>
            <a:endParaRPr b="1" sz="151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lang="en-US" sz="151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Progetto disponibile su </a:t>
            </a:r>
            <a:r>
              <a:rPr b="1" lang="en-US" sz="151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GitHub </a:t>
            </a:r>
            <a:endParaRPr b="1" sz="151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6771977" y="3042121"/>
            <a:ext cx="51665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1.233 No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3"/>
          <p:cNvSpPr/>
          <p:nvPr/>
        </p:nvSpPr>
        <p:spPr>
          <a:xfrm>
            <a:off x="6994178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3"/>
          <p:cNvSpPr/>
          <p:nvPr/>
        </p:nvSpPr>
        <p:spPr>
          <a:xfrm>
            <a:off x="850173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8618116" y="4823892"/>
            <a:ext cx="26533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1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3" name="Google Shape;3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4" name="Google Shape;3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6020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70850" y="568413"/>
            <a:ext cx="3320525" cy="4105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775028" y="238051"/>
            <a:ext cx="129830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STRUTTURA DEI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365745" y="1205954"/>
            <a:ext cx="87052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65745" y="1400621"/>
            <a:ext cx="1899724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Il Dataset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365745" y="1893615"/>
            <a:ext cx="4529651" cy="3330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Ogni riga rappresenta un dipendente con informazioni su età,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9424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939"/>
              <a:buFont typeface="Inter"/>
              <a:buNone/>
            </a:pPr>
            <a:r>
              <a:rPr b="0" i="0" lang="en-US" sz="94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stipendio, ruolo, soddisfazione e molto altro.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365261" y="24094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534070" y="25165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646509" y="2579787"/>
            <a:ext cx="123803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946472" y="2520702"/>
            <a:ext cx="973552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anagrafici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946472" y="2682255"/>
            <a:ext cx="208265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Age, Gender, MaritalStatus, Education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365261" y="29777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534070" y="30848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634752" y="3148087"/>
            <a:ext cx="154469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946472" y="3089002"/>
            <a:ext cx="115580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Dati professionali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946472" y="3250555"/>
            <a:ext cx="272083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JobRole, Department, JobLevel, YearsAtCompany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365261" y="3546016"/>
            <a:ext cx="4024312" cy="490537"/>
          </a:xfrm>
          <a:prstGeom prst="roundRect">
            <a:avLst>
              <a:gd fmla="val 1491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534070" y="3653135"/>
            <a:ext cx="276225" cy="276225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633785" y="3716387"/>
            <a:ext cx="156887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/>
          <p:nvPr/>
        </p:nvSpPr>
        <p:spPr>
          <a:xfrm>
            <a:off x="946472" y="3657302"/>
            <a:ext cx="168873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Soddisfazione e stipendio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/>
          <p:nvPr/>
        </p:nvSpPr>
        <p:spPr>
          <a:xfrm>
            <a:off x="946472" y="3818855"/>
            <a:ext cx="235352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8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JobSatisfaction, MonthlyIncome, OverTime</a:t>
            </a:r>
            <a:endParaRPr b="0" i="0" sz="8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754389" y="861492"/>
            <a:ext cx="4024312" cy="1343025"/>
          </a:xfrm>
          <a:prstGeom prst="roundRect">
            <a:avLst>
              <a:gd fmla="val 680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4"/>
          <p:cNvSpPr/>
          <p:nvPr/>
        </p:nvSpPr>
        <p:spPr>
          <a:xfrm>
            <a:off x="6099594" y="1030784"/>
            <a:ext cx="13339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OSSERVAZIONI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941040" y="1262807"/>
            <a:ext cx="1651010" cy="552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3600"/>
              <a:buFont typeface="Inter"/>
              <a:buNone/>
            </a:pPr>
            <a:r>
              <a:rPr b="1" i="0" lang="en-US" sz="36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1.470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/>
          <p:nvPr/>
        </p:nvSpPr>
        <p:spPr>
          <a:xfrm>
            <a:off x="6268693" y="1917129"/>
            <a:ext cx="99570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righe nel dataset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/>
          <p:nvPr/>
        </p:nvSpPr>
        <p:spPr>
          <a:xfrm>
            <a:off x="4754835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4"/>
          <p:cNvSpPr/>
          <p:nvPr/>
        </p:nvSpPr>
        <p:spPr>
          <a:xfrm>
            <a:off x="5448527" y="2449488"/>
            <a:ext cx="55564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COLONNE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5434113" y="2640434"/>
            <a:ext cx="584470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835118" y="2306352"/>
            <a:ext cx="1943100" cy="904875"/>
          </a:xfrm>
          <a:prstGeom prst="roundRect">
            <a:avLst>
              <a:gd fmla="val 1010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302780" y="2449488"/>
            <a:ext cx="1007700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VALORI MANCANTI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7637785" y="2640434"/>
            <a:ext cx="337691" cy="385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2520"/>
              <a:buFont typeface="Inter"/>
              <a:buNone/>
            </a:pPr>
            <a:r>
              <a:rPr b="1" i="0" lang="en-US" sz="25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0</a:t>
            </a:r>
            <a:endParaRPr b="0" i="0" sz="25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313807"/>
            <a:ext cx="4024312" cy="1052512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76" name="Google Shape;76;p4"/>
          <p:cNvSpPr/>
          <p:nvPr/>
        </p:nvSpPr>
        <p:spPr>
          <a:xfrm>
            <a:off x="4937671" y="3451920"/>
            <a:ext cx="112649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VARIABILE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4937671" y="3615333"/>
            <a:ext cx="197992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Attrition (Yes / No)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37671" y="3925044"/>
            <a:ext cx="54267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No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4937671" y="4051102"/>
            <a:ext cx="109776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84% · 1.233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20978" y="3925044"/>
            <a:ext cx="579053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Classe Yes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5920978" y="4051102"/>
            <a:ext cx="906028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16% · 237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6977583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8485138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4"/>
          <p:cNvSpPr/>
          <p:nvPr/>
        </p:nvSpPr>
        <p:spPr>
          <a:xfrm>
            <a:off x="8601521" y="4823892"/>
            <a:ext cx="28690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88" name="Google Shape;8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"/>
          <p:cNvSpPr/>
          <p:nvPr/>
        </p:nvSpPr>
        <p:spPr>
          <a:xfrm>
            <a:off x="13" y="-42775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5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/>
          <p:nvPr/>
        </p:nvSpPr>
        <p:spPr>
          <a:xfrm>
            <a:off x="6810301" y="238051"/>
            <a:ext cx="12524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PREPARAZIONE DATI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365745" y="1270695"/>
            <a:ext cx="178180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PULIZIA DELLE FEATURE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365745" y="1465362"/>
            <a:ext cx="2899901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Colonne </a:t>
            </a:r>
            <a:r>
              <a:rPr b="1" lang="en-US" sz="2300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eliminate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365745" y="1787203"/>
            <a:ext cx="2478025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 motivazioni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365745" y="2224236"/>
            <a:ext cx="4805162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lang="en-US" sz="86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eliminate </a:t>
            </a: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le colonne non informative per evitare rumore e data leakage.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365261" y="2508796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5"/>
          <p:cNvSpPr/>
          <p:nvPr/>
        </p:nvSpPr>
        <p:spPr>
          <a:xfrm>
            <a:off x="507653" y="2600771"/>
            <a:ext cx="88068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Valori costanti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/>
          <p:nvPr/>
        </p:nvSpPr>
        <p:spPr>
          <a:xfrm>
            <a:off x="507653" y="2753320"/>
            <a:ext cx="219970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EmployeeCount, Over18, StandardHours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365261" y="3016969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507653" y="3108945"/>
            <a:ext cx="1659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Identificativo (data leakage)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507653" y="3261494"/>
            <a:ext cx="100692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EmployeeNumber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365261" y="3525143"/>
            <a:ext cx="4024312" cy="447675"/>
          </a:xfrm>
          <a:prstGeom prst="roundRect">
            <a:avLst>
              <a:gd fmla="val 16340" name="adj"/>
            </a:avLst>
          </a:prstGeom>
          <a:solidFill>
            <a:srgbClr val="FEF2F2"/>
          </a:solidFill>
          <a:ln cap="flat" cmpd="sng" w="9525">
            <a:solidFill>
              <a:srgbClr val="FECA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507653" y="3617119"/>
            <a:ext cx="184322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720"/>
              <a:buFont typeface="Inter"/>
              <a:buNone/>
            </a:pPr>
            <a:r>
              <a:rPr b="1" i="0" lang="en-US" sz="820" u="none" cap="none" strike="noStrike">
                <a:solidFill>
                  <a:srgbClr val="991B1B"/>
                </a:solidFill>
                <a:latin typeface="Inter"/>
                <a:ea typeface="Inter"/>
                <a:cs typeface="Inter"/>
                <a:sym typeface="Inter"/>
              </a:rPr>
              <a:t>Ridondanti con MonthlyIncome</a:t>
            </a:r>
            <a:endParaRPr b="0" i="0" sz="8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507653" y="3769668"/>
            <a:ext cx="1947706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F1D1D"/>
              </a:buClr>
              <a:buSzPts val="680"/>
              <a:buFont typeface="Inter"/>
              <a:buNone/>
            </a:pPr>
            <a:r>
              <a:rPr b="0" i="0" lang="en-US" sz="780" u="none" cap="none" strike="noStrike">
                <a:solidFill>
                  <a:srgbClr val="7F1D1D"/>
                </a:solidFill>
                <a:latin typeface="Inter"/>
                <a:ea typeface="Inter"/>
                <a:cs typeface="Inter"/>
                <a:sym typeface="Inter"/>
              </a:rPr>
              <a:t>DailyRate, HourlyRate, MonthlyRate</a:t>
            </a:r>
            <a:endParaRPr b="0" i="0" sz="7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4754389" y="1240222"/>
            <a:ext cx="4024312" cy="1671638"/>
          </a:xfrm>
          <a:prstGeom prst="roundRect">
            <a:avLst>
              <a:gd fmla="val 5470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"/>
          <p:cNvSpPr/>
          <p:nvPr/>
        </p:nvSpPr>
        <p:spPr>
          <a:xfrm>
            <a:off x="4988198" y="1413272"/>
            <a:ext cx="139542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prima e dopo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865510" y="1817489"/>
            <a:ext cx="747474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35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5788979" y="2387129"/>
            <a:ext cx="90061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colonne originali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6746528" y="201729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973662" y="1817489"/>
            <a:ext cx="753472" cy="5000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3240"/>
              <a:buFont typeface="Inter"/>
              <a:buNone/>
            </a:pPr>
            <a:r>
              <a:rPr b="1" i="0" lang="en-US" sz="32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28</a:t>
            </a:r>
            <a:endParaRPr b="0" i="0" sz="32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6996310" y="2387129"/>
            <a:ext cx="70810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feature finali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04071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407348" y="2639169"/>
            <a:ext cx="99096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colonne </a:t>
            </a:r>
            <a:r>
              <a:rPr lang="en-US" sz="6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eliminate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5"/>
          <p:cNvSpPr/>
          <p:nvPr/>
        </p:nvSpPr>
        <p:spPr>
          <a:xfrm>
            <a:off x="7216080" y="2679464"/>
            <a:ext cx="276225" cy="23812"/>
          </a:xfrm>
          <a:prstGeom prst="roundRect">
            <a:avLst>
              <a:gd fmla="val 40001" name="adj"/>
            </a:avLst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3" name="Google Shape;123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016039"/>
            <a:ext cx="4024312" cy="9715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124" name="Google Shape;124;p5"/>
          <p:cNvSpPr/>
          <p:nvPr/>
        </p:nvSpPr>
        <p:spPr>
          <a:xfrm>
            <a:off x="4937671" y="3153073"/>
            <a:ext cx="160302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TRASFORMAZIONE TARGET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117087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4756242" y="3520455"/>
            <a:ext cx="138188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"Yes" / "No"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5300116" y="3753073"/>
            <a:ext cx="29406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testo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139532" y="3475881"/>
            <a:ext cx="256334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40"/>
              <a:buFont typeface="Inter"/>
              <a:buNone/>
            </a:pPr>
            <a:r>
              <a:rPr b="1" i="0" lang="en-US" sz="144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 b="0" i="0" sz="14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377438" y="3332708"/>
            <a:ext cx="660120" cy="1428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939"/>
              <a:buFont typeface="Inter"/>
              <a:buNone/>
            </a:pPr>
            <a:r>
              <a:rPr b="1" i="0" lang="en-US" sz="94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Attrition</a:t>
            </a:r>
            <a:endParaRPr b="0" i="0" sz="94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6468480" y="3520455"/>
            <a:ext cx="4779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 / 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6454646" y="3753073"/>
            <a:ext cx="505629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DFDFE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FDFDFE"/>
                </a:solidFill>
                <a:latin typeface="Inter"/>
                <a:ea typeface="Inter"/>
                <a:cs typeface="Inter"/>
                <a:sym typeface="Inter"/>
              </a:rPr>
              <a:t>numerico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976765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848431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8600703" y="4823892"/>
            <a:ext cx="28796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3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7" name="Google Shape;137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8" name="Google Shape;138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87751" y="1398687"/>
            <a:ext cx="3557588" cy="2333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9" name="Google Shape;139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6730603" y="238051"/>
            <a:ext cx="135605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ESPLORATIVA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365745" y="1362075"/>
            <a:ext cx="20931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ANALISI ESPLORATIVA (EDA)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365745" y="1556742"/>
            <a:ext cx="3755454" cy="3571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300"/>
              <a:buFont typeface="Inter"/>
              <a:buNone/>
            </a:pPr>
            <a:r>
              <a:rPr b="1" i="0" lang="en-US" sz="2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Chi lascia l'azienda?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365745" y="1993776"/>
            <a:ext cx="4326017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Tre pattern emergono con chiarezza dall'analisi del training set.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365261" y="2279712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6"/>
          <p:cNvSpPr/>
          <p:nvPr/>
        </p:nvSpPr>
        <p:spPr>
          <a:xfrm>
            <a:off x="535037" y="2385789"/>
            <a:ext cx="133041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Eta e reddito piu bassi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35037" y="2543473"/>
            <a:ext cx="46868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 dipendenti che partono tendono ad essere piu giovani e con MonthlyIncome inferiore.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365261" y="2839380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535037" y="2945457"/>
            <a:ext cx="1652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Straordinario come segnale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535037" y="3103141"/>
            <a:ext cx="396324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OverTime = Yes e fortemente associato a un tasso di Attrition piu elevato.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365261" y="3399048"/>
            <a:ext cx="4024312" cy="481012"/>
          </a:xfrm>
          <a:prstGeom prst="roundRect">
            <a:avLst>
              <a:gd fmla="val 15208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535037" y="3505126"/>
            <a:ext cx="114971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Correlazioni deboli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535037" y="3662809"/>
            <a:ext cx="447615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Nessuna variabile numerica ha |r| &gt; 0.20: necessaria la combinazione di piu fattori.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4754389" y="649784"/>
            <a:ext cx="4024312" cy="3929063"/>
          </a:xfrm>
          <a:prstGeom prst="roundRect">
            <a:avLst>
              <a:gd fmla="val 232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"/>
          <p:cNvSpPr/>
          <p:nvPr/>
        </p:nvSpPr>
        <p:spPr>
          <a:xfrm>
            <a:off x="4988198" y="823689"/>
            <a:ext cx="167829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con Attrition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988198" y="995511"/>
            <a:ext cx="212028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Correlazione di Pearson (valori numerici)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4988198" y="1221804"/>
            <a:ext cx="1401522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CORRELAZIONE POSITIVA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4988198" y="1389757"/>
            <a:ext cx="105442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DistanceFromHome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6359835" y="140382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6"/>
          <p:cNvSpPr/>
          <p:nvPr/>
        </p:nvSpPr>
        <p:spPr>
          <a:xfrm>
            <a:off x="6360356" y="1403821"/>
            <a:ext cx="7810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8178277" y="1389757"/>
            <a:ext cx="36661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4988198" y="1554287"/>
            <a:ext cx="12510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NumCompaniesWorked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6359835" y="1568351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6"/>
          <p:cNvSpPr/>
          <p:nvPr/>
        </p:nvSpPr>
        <p:spPr>
          <a:xfrm>
            <a:off x="6358979" y="1568351"/>
            <a:ext cx="438150" cy="76200"/>
          </a:xfrm>
          <a:prstGeom prst="roundRect">
            <a:avLst>
              <a:gd fmla="val 36000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6"/>
          <p:cNvSpPr/>
          <p:nvPr/>
        </p:nvSpPr>
        <p:spPr>
          <a:xfrm>
            <a:off x="8181179" y="1554287"/>
            <a:ext cx="36371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+0.05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4988198" y="1780580"/>
            <a:ext cx="1440314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CORRELAZIONE NEGATIVA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4988198" y="1948532"/>
            <a:ext cx="10069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TotalWorkingYears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6"/>
          <p:cNvSpPr/>
          <p:nvPr/>
        </p:nvSpPr>
        <p:spPr>
          <a:xfrm>
            <a:off x="6359835" y="196259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6"/>
          <p:cNvSpPr/>
          <p:nvPr/>
        </p:nvSpPr>
        <p:spPr>
          <a:xfrm>
            <a:off x="6360430" y="1962596"/>
            <a:ext cx="169068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"/>
          <p:cNvSpPr/>
          <p:nvPr/>
        </p:nvSpPr>
        <p:spPr>
          <a:xfrm>
            <a:off x="8232257" y="194853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6"/>
          <p:cNvSpPr/>
          <p:nvPr/>
        </p:nvSpPr>
        <p:spPr>
          <a:xfrm>
            <a:off x="4988198" y="2113062"/>
            <a:ext cx="2588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Age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6"/>
          <p:cNvSpPr/>
          <p:nvPr/>
        </p:nvSpPr>
        <p:spPr>
          <a:xfrm>
            <a:off x="6359835" y="2127126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6"/>
          <p:cNvSpPr/>
          <p:nvPr/>
        </p:nvSpPr>
        <p:spPr>
          <a:xfrm>
            <a:off x="6360840" y="2127126"/>
            <a:ext cx="1671638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6"/>
          <p:cNvSpPr/>
          <p:nvPr/>
        </p:nvSpPr>
        <p:spPr>
          <a:xfrm>
            <a:off x="8232257" y="2113062"/>
            <a:ext cx="31263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4988198" y="2277591"/>
            <a:ext cx="124045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YearsWithCurrManager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6359835" y="229165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6359091" y="2291655"/>
            <a:ext cx="1547813" cy="76200"/>
          </a:xfrm>
          <a:prstGeom prst="roundRect">
            <a:avLst>
              <a:gd fmla="val 36000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6"/>
          <p:cNvSpPr/>
          <p:nvPr/>
        </p:nvSpPr>
        <p:spPr>
          <a:xfrm>
            <a:off x="8239028" y="2277591"/>
            <a:ext cx="30586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-0.17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6"/>
          <p:cNvSpPr/>
          <p:nvPr/>
        </p:nvSpPr>
        <p:spPr>
          <a:xfrm>
            <a:off x="4988198" y="2442121"/>
            <a:ext cx="86094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JobInvolvement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359835" y="2456185"/>
            <a:ext cx="1819275" cy="76200"/>
          </a:xfrm>
          <a:prstGeom prst="roundRect">
            <a:avLst>
              <a:gd fmla="val 36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6"/>
          <p:cNvSpPr/>
          <p:nvPr/>
        </p:nvSpPr>
        <p:spPr>
          <a:xfrm>
            <a:off x="6358979" y="2456185"/>
            <a:ext cx="1147763" cy="76200"/>
          </a:xfrm>
          <a:prstGeom prst="roundRect">
            <a:avLst>
              <a:gd fmla="val 36000" name="adj"/>
            </a:avLst>
          </a:prstGeom>
          <a:solidFill>
            <a:srgbClr val="47556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6"/>
          <p:cNvSpPr/>
          <p:nvPr/>
        </p:nvSpPr>
        <p:spPr>
          <a:xfrm>
            <a:off x="8232644" y="2442121"/>
            <a:ext cx="31224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-0.13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6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6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6"/>
          <p:cNvSpPr/>
          <p:nvPr/>
        </p:nvSpPr>
        <p:spPr>
          <a:xfrm>
            <a:off x="6974309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848186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8598247" y="4823892"/>
            <a:ext cx="2911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4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7" name="Google Shape;19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8" name="Google Shape;198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7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7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7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7"/>
          <p:cNvSpPr/>
          <p:nvPr/>
        </p:nvSpPr>
        <p:spPr>
          <a:xfrm>
            <a:off x="6966347" y="238051"/>
            <a:ext cx="104958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/>
          <p:nvPr/>
        </p:nvSpPr>
        <p:spPr>
          <a:xfrm>
            <a:off x="365745" y="664666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7"/>
          <p:cNvSpPr/>
          <p:nvPr/>
        </p:nvSpPr>
        <p:spPr>
          <a:xfrm>
            <a:off x="365745" y="823317"/>
            <a:ext cx="3629695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Preparazione dei dati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7"/>
          <p:cNvSpPr/>
          <p:nvPr/>
        </p:nvSpPr>
        <p:spPr>
          <a:xfrm>
            <a:off x="365745" y="1199406"/>
            <a:ext cx="379995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Preparazione dei dati per i modelli di Machine Learning.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7"/>
          <p:cNvSpPr/>
          <p:nvPr/>
        </p:nvSpPr>
        <p:spPr>
          <a:xfrm>
            <a:off x="365745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553789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7"/>
          <p:cNvSpPr/>
          <p:nvPr/>
        </p:nvSpPr>
        <p:spPr>
          <a:xfrm>
            <a:off x="683047" y="1687860"/>
            <a:ext cx="135895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7"/>
          <p:cNvSpPr/>
          <p:nvPr/>
        </p:nvSpPr>
        <p:spPr>
          <a:xfrm>
            <a:off x="1010469" y="1625947"/>
            <a:ext cx="1075804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Split stratificato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7"/>
          <p:cNvSpPr/>
          <p:nvPr/>
        </p:nvSpPr>
        <p:spPr>
          <a:xfrm>
            <a:off x="1010469" y="1813173"/>
            <a:ext cx="281380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80% training (1.176 righe) e 20% test (294 righe).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7"/>
          <p:cNvSpPr/>
          <p:nvPr/>
        </p:nvSpPr>
        <p:spPr>
          <a:xfrm>
            <a:off x="1010469" y="1975991"/>
            <a:ext cx="151112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stratify=y · random_state=42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4663418" y="1478905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4851425" y="1612106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7"/>
          <p:cNvSpPr/>
          <p:nvPr/>
        </p:nvSpPr>
        <p:spPr>
          <a:xfrm>
            <a:off x="4967213" y="1687860"/>
            <a:ext cx="170914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7"/>
          <p:cNvSpPr/>
          <p:nvPr/>
        </p:nvSpPr>
        <p:spPr>
          <a:xfrm>
            <a:off x="5308104" y="1625947"/>
            <a:ext cx="123435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One-Hot Encoding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7"/>
          <p:cNvSpPr/>
          <p:nvPr/>
        </p:nvSpPr>
        <p:spPr>
          <a:xfrm>
            <a:off x="5308104" y="1813173"/>
            <a:ext cx="2823962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 variabili categoriche trasformate in colonne 0/1.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5308104" y="1975991"/>
            <a:ext cx="1112855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28 → 41 feature totali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365745" y="3120293"/>
            <a:ext cx="4114800" cy="1457325"/>
          </a:xfrm>
          <a:prstGeom prst="roundRect">
            <a:avLst>
              <a:gd fmla="val 6275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553789" y="3253457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668238" y="3329211"/>
            <a:ext cx="174300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7"/>
          <p:cNvSpPr/>
          <p:nvPr/>
        </p:nvSpPr>
        <p:spPr>
          <a:xfrm>
            <a:off x="1010469" y="3267298"/>
            <a:ext cx="1249836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Standardizzazione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1010469" y="3454524"/>
            <a:ext cx="275179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StandardScaler: media 0, deviazione standard 1.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7"/>
          <p:cNvSpPr/>
          <p:nvPr/>
        </p:nvSpPr>
        <p:spPr>
          <a:xfrm>
            <a:off x="1010469" y="3617342"/>
            <a:ext cx="222544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Fondamentale per la Regressione Logistica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1" name="Google Shape;23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18" y="3120293"/>
            <a:ext cx="4114800" cy="1457325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232" name="Google Shape;232;p7"/>
          <p:cNvSpPr/>
          <p:nvPr/>
        </p:nvSpPr>
        <p:spPr>
          <a:xfrm>
            <a:off x="4846662" y="3248695"/>
            <a:ext cx="319088" cy="319088"/>
          </a:xfrm>
          <a:prstGeom prst="roundRect">
            <a:avLst>
              <a:gd fmla="val 22925" name="adj"/>
            </a:avLst>
          </a:prstGeom>
          <a:solidFill>
            <a:srgbClr val="FFFFFF">
              <a:alpha val="1490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7"/>
          <p:cNvSpPr/>
          <p:nvPr/>
        </p:nvSpPr>
        <p:spPr>
          <a:xfrm>
            <a:off x="4958953" y="3324448"/>
            <a:ext cx="179911" cy="1666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Inter"/>
              <a:buNone/>
            </a:pPr>
            <a:r>
              <a:rPr b="1" i="0" lang="en-US" sz="108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5303341" y="3262536"/>
            <a:ext cx="17106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class_weight="balanced"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7"/>
          <p:cNvSpPr/>
          <p:nvPr/>
        </p:nvSpPr>
        <p:spPr>
          <a:xfrm>
            <a:off x="5303341" y="3449762"/>
            <a:ext cx="3839230" cy="2514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Compensa lo sbilanciamento 84% / 16% dando piu peso alla classe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EFEFE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FEFEFE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7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7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7"/>
          <p:cNvSpPr/>
          <p:nvPr/>
        </p:nvSpPr>
        <p:spPr>
          <a:xfrm>
            <a:off x="6978700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8486254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8602638" y="4823892"/>
            <a:ext cx="285452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1" name="Google Shape;2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42" name="Google Shape;2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8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8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/>
          <p:nvPr/>
        </p:nvSpPr>
        <p:spPr>
          <a:xfrm>
            <a:off x="6917531" y="238051"/>
            <a:ext cx="111304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CLASSIFICAZIONE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8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365745" y="1197248"/>
            <a:ext cx="85504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MODELLO 1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365745" y="1355899"/>
            <a:ext cx="3241677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8"/>
          <p:cNvSpPr/>
          <p:nvPr/>
        </p:nvSpPr>
        <p:spPr>
          <a:xfrm>
            <a:off x="365745" y="1696864"/>
            <a:ext cx="4003104" cy="28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Modello semplice e interpretabile, buon punto di partenza per la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60379"/>
              </a:lnSpc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classificazione binaria.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8"/>
          <p:cNvSpPr/>
          <p:nvPr/>
        </p:nvSpPr>
        <p:spPr>
          <a:xfrm>
            <a:off x="365261" y="2205224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8"/>
          <p:cNvSpPr/>
          <p:nvPr/>
        </p:nvSpPr>
        <p:spPr>
          <a:xfrm>
            <a:off x="553343" y="2348285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53380" y="2564904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663029" y="2625998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3716685" y="2625998"/>
            <a:ext cx="54480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0.459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553380" y="2849389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8"/>
          <p:cNvSpPr/>
          <p:nvPr/>
        </p:nvSpPr>
        <p:spPr>
          <a:xfrm>
            <a:off x="663029" y="2910483"/>
            <a:ext cx="582632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0.5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3713559" y="2910483"/>
            <a:ext cx="54887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0.480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8"/>
          <p:cNvSpPr/>
          <p:nvPr/>
        </p:nvSpPr>
        <p:spPr>
          <a:xfrm>
            <a:off x="553380" y="3133874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8"/>
          <p:cNvSpPr/>
          <p:nvPr/>
        </p:nvSpPr>
        <p:spPr>
          <a:xfrm>
            <a:off x="667792" y="3199730"/>
            <a:ext cx="105413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3705299" y="3199730"/>
            <a:ext cx="55341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F1: 0.527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8"/>
          <p:cNvSpPr/>
          <p:nvPr/>
        </p:nvSpPr>
        <p:spPr>
          <a:xfrm>
            <a:off x="365261" y="3612505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0D9488">
              <a:alpha val="5882"/>
            </a:srgbClr>
          </a:solidFill>
          <a:ln cap="flat" cmpd="sng" w="9525">
            <a:solidFill>
              <a:srgbClr val="0D9488">
                <a:alpha val="1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8"/>
          <p:cNvSpPr/>
          <p:nvPr/>
        </p:nvSpPr>
        <p:spPr>
          <a:xfrm>
            <a:off x="507653" y="3704183"/>
            <a:ext cx="99415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Scelta: soglia 0.6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8"/>
          <p:cNvSpPr/>
          <p:nvPr/>
        </p:nvSpPr>
        <p:spPr>
          <a:xfrm>
            <a:off x="507653" y="3849812"/>
            <a:ext cx="28266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Miglior F1 (0.527) con buon equilibrio Precision / 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8"/>
          <p:cNvSpPr/>
          <p:nvPr/>
        </p:nvSpPr>
        <p:spPr>
          <a:xfrm>
            <a:off x="4754835" y="1277764"/>
            <a:ext cx="88116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MODELLO 2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8"/>
          <p:cNvSpPr/>
          <p:nvPr/>
        </p:nvSpPr>
        <p:spPr>
          <a:xfrm>
            <a:off x="4754835" y="1436415"/>
            <a:ext cx="2221185" cy="28098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800"/>
              <a:buFont typeface="Inter"/>
              <a:buNone/>
            </a:pPr>
            <a:r>
              <a:rPr b="1" i="0" lang="en-US" sz="18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8"/>
          <p:cNvSpPr/>
          <p:nvPr/>
        </p:nvSpPr>
        <p:spPr>
          <a:xfrm>
            <a:off x="4754835" y="1777380"/>
            <a:ext cx="520082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90"/>
              <a:buFont typeface="Inter"/>
              <a:buNone/>
            </a:pPr>
            <a:r>
              <a:rPr b="0" i="0" lang="en-US" sz="79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300 alberi decisionali, piu complesso ma capace di catturare interazioni non lineari.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8"/>
          <p:cNvSpPr/>
          <p:nvPr/>
        </p:nvSpPr>
        <p:spPr>
          <a:xfrm>
            <a:off x="4754389" y="2124782"/>
            <a:ext cx="4024312" cy="1304925"/>
          </a:xfrm>
          <a:prstGeom prst="roundRect">
            <a:avLst>
              <a:gd fmla="val 70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8"/>
          <p:cNvSpPr/>
          <p:nvPr/>
        </p:nvSpPr>
        <p:spPr>
          <a:xfrm>
            <a:off x="4942433" y="2267843"/>
            <a:ext cx="219564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TUNING SOGLIA (CROSS-VAL 5-FOLD)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8"/>
          <p:cNvSpPr/>
          <p:nvPr/>
        </p:nvSpPr>
        <p:spPr>
          <a:xfrm>
            <a:off x="4942508" y="2484462"/>
            <a:ext cx="3648075" cy="242888"/>
          </a:xfrm>
          <a:prstGeom prst="roundRect">
            <a:avLst>
              <a:gd fmla="val 18823" name="adj"/>
            </a:avLst>
          </a:prstGeom>
          <a:solidFill>
            <a:srgbClr val="1E3A5F">
              <a:alpha val="5882"/>
            </a:srgbClr>
          </a:solidFill>
          <a:ln cap="flat" cmpd="sng" w="9525">
            <a:solidFill>
              <a:srgbClr val="1E3A5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8"/>
          <p:cNvSpPr/>
          <p:nvPr/>
        </p:nvSpPr>
        <p:spPr>
          <a:xfrm>
            <a:off x="5056882" y="2550319"/>
            <a:ext cx="1055199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Soglia 0.2 (scelta)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/>
          <p:nvPr/>
        </p:nvSpPr>
        <p:spPr>
          <a:xfrm>
            <a:off x="8106221" y="2550319"/>
            <a:ext cx="53813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F1: 0.531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8"/>
          <p:cNvSpPr/>
          <p:nvPr/>
        </p:nvSpPr>
        <p:spPr>
          <a:xfrm>
            <a:off x="4942508" y="2778472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8"/>
          <p:cNvSpPr/>
          <p:nvPr/>
        </p:nvSpPr>
        <p:spPr>
          <a:xfrm>
            <a:off x="5052120" y="2839566"/>
            <a:ext cx="58398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0.3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8109124" y="2839566"/>
            <a:ext cx="54055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0.472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4942508" y="3062957"/>
            <a:ext cx="3648075" cy="233362"/>
          </a:xfrm>
          <a:prstGeom prst="roundRect">
            <a:avLst>
              <a:gd fmla="val 19592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8"/>
          <p:cNvSpPr/>
          <p:nvPr/>
        </p:nvSpPr>
        <p:spPr>
          <a:xfrm>
            <a:off x="5052120" y="3124051"/>
            <a:ext cx="59017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Soglia 0.4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8"/>
          <p:cNvSpPr/>
          <p:nvPr/>
        </p:nvSpPr>
        <p:spPr>
          <a:xfrm>
            <a:off x="8103468" y="3124051"/>
            <a:ext cx="547903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F1: 0.420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754389" y="3532063"/>
            <a:ext cx="4024312" cy="433388"/>
          </a:xfrm>
          <a:prstGeom prst="roundRect">
            <a:avLst>
              <a:gd fmla="val 16879" name="adj"/>
            </a:avLst>
          </a:prstGeom>
          <a:solidFill>
            <a:srgbClr val="1E3A5F">
              <a:alpha val="5098"/>
            </a:srgbClr>
          </a:solidFill>
          <a:ln cap="flat" cmpd="sng" w="9525">
            <a:solidFill>
              <a:srgbClr val="1E3A5F">
                <a:alpha val="1215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4896743" y="3623742"/>
            <a:ext cx="99541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Scelta: soglia 0.2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4896743" y="3769370"/>
            <a:ext cx="346137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RF e piu conservativo: serve soglia bassa per un recall comparabile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8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8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6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3" name="Google Shape;2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94" name="Google Shape;294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9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9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9"/>
          <p:cNvSpPr/>
          <p:nvPr/>
        </p:nvSpPr>
        <p:spPr>
          <a:xfrm>
            <a:off x="7282681" y="238051"/>
            <a:ext cx="638354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RISULTATI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365745" y="664666"/>
            <a:ext cx="18151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9"/>
          <p:cNvSpPr/>
          <p:nvPr/>
        </p:nvSpPr>
        <p:spPr>
          <a:xfrm>
            <a:off x="365745" y="807913"/>
            <a:ext cx="3479073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sul Test Set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365745" y="1168598"/>
            <a:ext cx="4433396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860"/>
              <a:buFont typeface="Inter"/>
              <a:buNone/>
            </a:pPr>
            <a:r>
              <a:rPr b="0" i="0" lang="en-US" sz="86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 Regressione Logistica ottiene il miglior equilibrio complessivo.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366713" y="1448209"/>
            <a:ext cx="8410575" cy="1257300"/>
          </a:xfrm>
          <a:prstGeom prst="roundRect">
            <a:avLst>
              <a:gd fmla="val 7273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9"/>
          <p:cNvSpPr/>
          <p:nvPr/>
        </p:nvSpPr>
        <p:spPr>
          <a:xfrm>
            <a:off x="371475" y="1452972"/>
            <a:ext cx="8401050" cy="276225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553343" y="1538883"/>
            <a:ext cx="611460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2999043" y="1538883"/>
            <a:ext cx="70587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ACCURACY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189731" y="1538883"/>
            <a:ext cx="6730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PRECISION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/>
          <p:nvPr/>
        </p:nvSpPr>
        <p:spPr>
          <a:xfrm>
            <a:off x="5453167" y="1538883"/>
            <a:ext cx="49479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RECALL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6566379" y="1538883"/>
            <a:ext cx="61687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F1-SCORE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7749027" y="1538883"/>
            <a:ext cx="600239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2D8D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D2D8DF"/>
                </a:solidFill>
                <a:latin typeface="Inter"/>
                <a:ea typeface="Inter"/>
                <a:cs typeface="Inter"/>
                <a:sym typeface="Inter"/>
              </a:rPr>
              <a:t>ROC-AUC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371475" y="1728713"/>
            <a:ext cx="8401050" cy="490537"/>
          </a:xfrm>
          <a:prstGeom prst="rect">
            <a:avLst/>
          </a:prstGeom>
          <a:solidFill>
            <a:srgbClr val="0D9488">
              <a:alpha val="3921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553343" y="1847031"/>
            <a:ext cx="1464499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Regressione Logistica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9"/>
          <p:cNvSpPr/>
          <p:nvPr/>
        </p:nvSpPr>
        <p:spPr>
          <a:xfrm>
            <a:off x="553343" y="2003450"/>
            <a:ext cx="1027628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soglia 0.6 · vincitore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996732" y="1856556"/>
            <a:ext cx="71042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81.3%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148338" y="1856556"/>
            <a:ext cx="75579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43.5%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/>
          <p:nvPr/>
        </p:nvSpPr>
        <p:spPr>
          <a:xfrm>
            <a:off x="5339983" y="1856556"/>
            <a:ext cx="721162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57.4%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9"/>
          <p:cNvSpPr/>
          <p:nvPr/>
        </p:nvSpPr>
        <p:spPr>
          <a:xfrm>
            <a:off x="6489944" y="1856556"/>
            <a:ext cx="769821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49.5%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7757056" y="1856556"/>
            <a:ext cx="584180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0.811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553343" y="2335188"/>
            <a:ext cx="101437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Random Forest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/>
          <p:nvPr/>
        </p:nvSpPr>
        <p:spPr>
          <a:xfrm>
            <a:off x="553343" y="2491606"/>
            <a:ext cx="1100666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10"/>
              <a:buFont typeface="Inter"/>
              <a:buNone/>
            </a:pPr>
            <a:r>
              <a:rPr b="0" i="0" lang="en-US" sz="61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300 alberi · soglia 0.2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9"/>
          <p:cNvSpPr/>
          <p:nvPr/>
        </p:nvSpPr>
        <p:spPr>
          <a:xfrm>
            <a:off x="2999623" y="2344713"/>
            <a:ext cx="704716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77.6%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4150359" y="2344713"/>
            <a:ext cx="75182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38.3%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5322957" y="2344713"/>
            <a:ext cx="755213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66.0%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/>
          <p:nvPr/>
        </p:nvSpPr>
        <p:spPr>
          <a:xfrm>
            <a:off x="6489859" y="2344713"/>
            <a:ext cx="769918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48.4%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9"/>
          <p:cNvSpPr/>
          <p:nvPr/>
        </p:nvSpPr>
        <p:spPr>
          <a:xfrm>
            <a:off x="7720887" y="2344713"/>
            <a:ext cx="656444" cy="19526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300"/>
              <a:buFont typeface="Inter"/>
              <a:buNone/>
            </a:pPr>
            <a:r>
              <a:rPr b="1" i="0" lang="en-US" sz="13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0.782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366713" y="2835659"/>
            <a:ext cx="8410575" cy="828675"/>
          </a:xfrm>
          <a:prstGeom prst="roundRect">
            <a:avLst>
              <a:gd fmla="val 11034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599108" y="2951931"/>
            <a:ext cx="262593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Top 5 feature piu importanti (Random Forest)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/>
          <p:nvPr/>
        </p:nvSpPr>
        <p:spPr>
          <a:xfrm>
            <a:off x="598252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1271599" y="3243263"/>
            <a:ext cx="134444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1.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884366" y="3359795"/>
            <a:ext cx="908834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MonthlyIncome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2214823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2878109" y="3243263"/>
            <a:ext cx="154565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2.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9"/>
          <p:cNvSpPr/>
          <p:nvPr/>
        </p:nvSpPr>
        <p:spPr>
          <a:xfrm>
            <a:off x="2817852" y="3359795"/>
            <a:ext cx="275005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Age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3831394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4494970" y="3243263"/>
            <a:ext cx="153985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3.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4153484" y="3359795"/>
            <a:ext cx="836957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OverTime_Yes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/>
          <p:nvPr/>
        </p:nvSpPr>
        <p:spPr>
          <a:xfrm>
            <a:off x="5447965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6110585" y="3243263"/>
            <a:ext cx="155823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4.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9"/>
          <p:cNvSpPr/>
          <p:nvPr/>
        </p:nvSpPr>
        <p:spPr>
          <a:xfrm>
            <a:off x="5641684" y="3359795"/>
            <a:ext cx="109370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TotalWorkingYears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/>
          <p:nvPr/>
        </p:nvSpPr>
        <p:spPr>
          <a:xfrm>
            <a:off x="7064536" y="3157091"/>
            <a:ext cx="1481137" cy="400050"/>
          </a:xfrm>
          <a:prstGeom prst="roundRect">
            <a:avLst>
              <a:gd fmla="val 13714" name="adj"/>
            </a:avLst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9"/>
          <p:cNvSpPr/>
          <p:nvPr/>
        </p:nvSpPr>
        <p:spPr>
          <a:xfrm>
            <a:off x="7729370" y="3243263"/>
            <a:ext cx="151470" cy="95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610"/>
              <a:buFont typeface="Inter"/>
              <a:buNone/>
            </a:pPr>
            <a:r>
              <a:rPr b="1" i="0" lang="en-US" sz="61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5.</a:t>
            </a:r>
            <a:endParaRPr b="0" i="0" sz="6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/>
          <p:nvPr/>
        </p:nvSpPr>
        <p:spPr>
          <a:xfrm>
            <a:off x="7300637" y="3359795"/>
            <a:ext cx="1008861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80"/>
              <a:buFont typeface="Inter"/>
              <a:buNone/>
            </a:pPr>
            <a:r>
              <a:rPr b="1" i="0" lang="en-US" sz="68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YearsAtCompany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9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9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"/>
          <p:cNvSpPr/>
          <p:nvPr/>
        </p:nvSpPr>
        <p:spPr>
          <a:xfrm>
            <a:off x="6981304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/>
          <p:nvPr/>
        </p:nvSpPr>
        <p:spPr>
          <a:xfrm>
            <a:off x="8488859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8605242" y="4823892"/>
            <a:ext cx="282067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7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54" name="Google Shape;3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55" name="Google Shape;35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475" y="1728713"/>
            <a:ext cx="8401050" cy="4905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356" name="Google Shape;356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0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0"/>
          <p:cNvSpPr/>
          <p:nvPr/>
        </p:nvSpPr>
        <p:spPr>
          <a:xfrm>
            <a:off x="7089204" y="238051"/>
            <a:ext cx="88987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365745" y="1241003"/>
            <a:ext cx="1062841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CONCLUSIONI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/>
          <p:nvPr/>
        </p:nvSpPr>
        <p:spPr>
          <a:xfrm>
            <a:off x="365745" y="1409998"/>
            <a:ext cx="1729948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Risultati e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365745" y="1711672"/>
            <a:ext cx="251527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prossimi passi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365261" y="2135088"/>
            <a:ext cx="4024312" cy="112395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553343" y="2278112"/>
            <a:ext cx="13524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COSA ABBIAMO FATTO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0"/>
          <p:cNvSpPr/>
          <p:nvPr/>
        </p:nvSpPr>
        <p:spPr>
          <a:xfrm>
            <a:off x="553343" y="2463254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717872" y="2463254"/>
            <a:ext cx="280093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Esplorazione, pulizia e analisi del dataset IBM HR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553343" y="2641476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717872" y="2641476"/>
            <a:ext cx="3136910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Split stratificato, One-Hot Encoding, standardizzazione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0"/>
          <p:cNvSpPr/>
          <p:nvPr/>
        </p:nvSpPr>
        <p:spPr>
          <a:xfrm>
            <a:off x="553343" y="2819698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717872" y="2819698"/>
            <a:ext cx="296403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Confronto Regressione Logistica vs. Random Forest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553343" y="2997919"/>
            <a:ext cx="175945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—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717872" y="2997919"/>
            <a:ext cx="25646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Feature importance: reddito, eta, straordinari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0"/>
          <p:cNvSpPr/>
          <p:nvPr/>
        </p:nvSpPr>
        <p:spPr>
          <a:xfrm>
            <a:off x="365261" y="3362734"/>
            <a:ext cx="4024312" cy="638175"/>
          </a:xfrm>
          <a:prstGeom prst="roundRect">
            <a:avLst>
              <a:gd fmla="val 14328" name="adj"/>
            </a:avLst>
          </a:prstGeom>
          <a:solidFill>
            <a:srgbClr val="FFFBEB"/>
          </a:solidFill>
          <a:ln cap="flat" cmpd="sng" w="9525">
            <a:solidFill>
              <a:srgbClr val="FDE6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553343" y="3478857"/>
            <a:ext cx="1233101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650"/>
              <a:buFont typeface="Inter"/>
              <a:buNone/>
            </a:pPr>
            <a:r>
              <a:rPr b="1" i="0" lang="en-US" sz="650" u="none" cap="none" strike="noStrike">
                <a:solidFill>
                  <a:srgbClr val="92400E"/>
                </a:solidFill>
                <a:latin typeface="Inter"/>
                <a:ea typeface="Inter"/>
                <a:cs typeface="Inter"/>
                <a:sym typeface="Inter"/>
              </a:rPr>
              <a:t>LIMITI DEL MODELLO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553343" y="3643387"/>
            <a:ext cx="4362100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Dataset piccolo (1.470) e sbilanciato: la classe Yes ha pochi esempi, il recall sulla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78350F"/>
                </a:solidFill>
                <a:latin typeface="Inter"/>
                <a:ea typeface="Inter"/>
                <a:cs typeface="Inter"/>
                <a:sym typeface="Inter"/>
              </a:rPr>
              <a:t>minoranza rimane il limite principale.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0"/>
          <p:cNvSpPr/>
          <p:nvPr/>
        </p:nvSpPr>
        <p:spPr>
          <a:xfrm>
            <a:off x="4754835" y="1167333"/>
            <a:ext cx="11322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SVILUPPI FUTURI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4754389" y="1388343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0"/>
          <p:cNvSpPr/>
          <p:nvPr/>
        </p:nvSpPr>
        <p:spPr>
          <a:xfrm>
            <a:off x="4924127" y="1495127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5018187" y="1550343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0"/>
          <p:cNvSpPr/>
          <p:nvPr/>
        </p:nvSpPr>
        <p:spPr>
          <a:xfrm>
            <a:off x="5289872" y="1504652"/>
            <a:ext cx="1320745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Tuning iperparametri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5289872" y="1664047"/>
            <a:ext cx="4329113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GridSearchCV o RandomizedSearchCV per ottimizzare n_estimators, max_depth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 altri.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4754389" y="2115964"/>
            <a:ext cx="4024312" cy="633412"/>
          </a:xfrm>
          <a:prstGeom prst="roundRect">
            <a:avLst>
              <a:gd fmla="val 11549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0"/>
          <p:cNvSpPr/>
          <p:nvPr/>
        </p:nvSpPr>
        <p:spPr>
          <a:xfrm>
            <a:off x="4924127" y="2222748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0"/>
          <p:cNvSpPr/>
          <p:nvPr/>
        </p:nvSpPr>
        <p:spPr>
          <a:xfrm>
            <a:off x="5009257" y="2277963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0"/>
          <p:cNvSpPr/>
          <p:nvPr/>
        </p:nvSpPr>
        <p:spPr>
          <a:xfrm>
            <a:off x="5289872" y="2232273"/>
            <a:ext cx="1256608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Modelli piu avanzati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5289872" y="2391668"/>
            <a:ext cx="3806339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Gradient Boosting, XGBoost per migliorare le performance sulla classe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minoritaria.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4754389" y="2842766"/>
            <a:ext cx="4024312" cy="504825"/>
          </a:xfrm>
          <a:prstGeom prst="roundRect">
            <a:avLst>
              <a:gd fmla="val 14491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38100" rotWithShape="0" algn="bl" dir="5400000" dist="9525">
              <a:srgbClr val="1E3A5F">
                <a:alpha val="3921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4924127" y="2950369"/>
            <a:ext cx="228600" cy="228600"/>
          </a:xfrm>
          <a:prstGeom prst="ellipse">
            <a:avLst/>
          </a:prstGeom>
          <a:solidFill>
            <a:srgbClr val="0D9488">
              <a:alpha val="1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10"/>
          <p:cNvSpPr/>
          <p:nvPr/>
        </p:nvSpPr>
        <p:spPr>
          <a:xfrm>
            <a:off x="5008364" y="3005584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5289872" y="2959894"/>
            <a:ext cx="1267830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Feature engineering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5289872" y="3119289"/>
            <a:ext cx="3881698" cy="1047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Nuove variabili derivate (es. rapporto anni nel ruolo vs. anzianita totale).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0" name="Google Shape;40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89" y="3441167"/>
            <a:ext cx="4024312" cy="628650"/>
          </a:xfrm>
          <a:prstGeom prst="rect">
            <a:avLst/>
          </a:prstGeom>
          <a:noFill/>
          <a:ln>
            <a:noFill/>
          </a:ln>
          <a:effectLst>
            <a:outerShdw blurRad="76200" rotWithShape="0" algn="bl" dir="5400000" dist="19050">
              <a:srgbClr val="1E3A5F">
                <a:alpha val="14901"/>
              </a:srgbClr>
            </a:outerShdw>
          </a:effectLst>
        </p:spPr>
      </p:pic>
      <p:sp>
        <p:nvSpPr>
          <p:cNvPr id="401" name="Google Shape;401;p10"/>
          <p:cNvSpPr/>
          <p:nvPr/>
        </p:nvSpPr>
        <p:spPr>
          <a:xfrm>
            <a:off x="4919365" y="3552527"/>
            <a:ext cx="1061003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60"/>
              <a:buFont typeface="Inter"/>
              <a:buNone/>
            </a:pPr>
            <a:r>
              <a:rPr b="1" i="0" lang="en-US" sz="76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Applicazione HR</a:t>
            </a:r>
            <a:endParaRPr b="0" i="0" sz="7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4919365" y="3717057"/>
            <a:ext cx="4822671" cy="2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Sistema di early warning per identificare i dipendenti a rischio di abbandono e supportare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735"/>
              </a:lnSpc>
              <a:spcBef>
                <a:spcPts val="0"/>
              </a:spcBef>
              <a:spcAft>
                <a:spcPts val="0"/>
              </a:spcAft>
              <a:buClr>
                <a:srgbClr val="FEFEFF"/>
              </a:buClr>
              <a:buSzPts val="680"/>
              <a:buFont typeface="Inter"/>
              <a:buNone/>
            </a:pPr>
            <a:r>
              <a:rPr b="0" i="0" lang="en-US" sz="680" u="none" cap="none" strike="noStrike">
                <a:solidFill>
                  <a:srgbClr val="FEFEFF"/>
                </a:solidFill>
                <a:latin typeface="Inter"/>
                <a:ea typeface="Inter"/>
                <a:cs typeface="Inter"/>
                <a:sym typeface="Inter"/>
              </a:rPr>
              <a:t>la retention.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6976542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8484096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8600480" y="4823892"/>
            <a:ext cx="288258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8 / 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8" name="Google Shape;40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9" name="Google Shape;40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1"/>
          <p:cNvSpPr/>
          <p:nvPr/>
        </p:nvSpPr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1"/>
          <p:cNvSpPr/>
          <p:nvPr/>
        </p:nvSpPr>
        <p:spPr>
          <a:xfrm>
            <a:off x="366675" y="206611"/>
            <a:ext cx="180975" cy="180975"/>
          </a:xfrm>
          <a:prstGeom prst="roundRect">
            <a:avLst>
              <a:gd fmla="val 20211" name="adj"/>
            </a:avLst>
          </a:prstGeom>
          <a:solidFill>
            <a:srgbClr val="0D948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1"/>
          <p:cNvSpPr/>
          <p:nvPr/>
        </p:nvSpPr>
        <p:spPr>
          <a:xfrm>
            <a:off x="639961" y="229046"/>
            <a:ext cx="1382174" cy="133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860"/>
              <a:buFont typeface="Inter"/>
              <a:buNone/>
            </a:pPr>
            <a:r>
              <a:rPr b="1" i="0" lang="en-US" sz="8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ADABI 2025–2026</a:t>
            </a:r>
            <a:endParaRPr b="0" i="0" sz="8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1"/>
          <p:cNvSpPr/>
          <p:nvPr/>
        </p:nvSpPr>
        <p:spPr>
          <a:xfrm>
            <a:off x="7078489" y="238051"/>
            <a:ext cx="90380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STRUMENTI AI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1"/>
          <p:cNvSpPr/>
          <p:nvPr/>
        </p:nvSpPr>
        <p:spPr>
          <a:xfrm>
            <a:off x="7912596" y="238051"/>
            <a:ext cx="1182506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20"/>
              <a:buFont typeface="Inter"/>
              <a:buNone/>
            </a:pPr>
            <a:r>
              <a:rPr b="0" i="0" lang="en-US" sz="72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IBM HR ANALYTICS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365745" y="1450925"/>
            <a:ext cx="2016197" cy="11906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90"/>
              <a:buFont typeface="Inter"/>
              <a:buNone/>
            </a:pPr>
            <a:r>
              <a:rPr b="1" i="0" lang="en-US" sz="79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INTELLIGENZA ARTIFICIALE</a:t>
            </a:r>
            <a:endParaRPr b="0" i="0" sz="7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365745" y="1619920"/>
            <a:ext cx="1826880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AI usata in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1"/>
          <p:cNvSpPr/>
          <p:nvPr/>
        </p:nvSpPr>
        <p:spPr>
          <a:xfrm>
            <a:off x="365745" y="1921594"/>
            <a:ext cx="2768531" cy="3333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3A5F"/>
              </a:buClr>
              <a:buSzPts val="2160"/>
              <a:buFont typeface="Inter"/>
              <a:buNone/>
            </a:pPr>
            <a:r>
              <a:rPr b="1" i="0" lang="en-US" sz="216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questo progetto</a:t>
            </a:r>
            <a:endParaRPr b="0" i="0" sz="21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1"/>
          <p:cNvSpPr/>
          <p:nvPr/>
        </p:nvSpPr>
        <p:spPr>
          <a:xfrm>
            <a:off x="365250" y="2371800"/>
            <a:ext cx="7464300" cy="1246800"/>
          </a:xfrm>
          <a:prstGeom prst="roundRect">
            <a:avLst>
              <a:gd fmla="val 6443" name="adj"/>
            </a:avLst>
          </a:prstGeom>
          <a:solidFill>
            <a:srgbClr val="FFFFFF"/>
          </a:solidFill>
          <a:ln cap="flat" cmpd="sng" w="9525">
            <a:solidFill>
              <a:srgbClr val="CBD5E1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1"/>
          <p:cNvSpPr/>
          <p:nvPr/>
        </p:nvSpPr>
        <p:spPr>
          <a:xfrm>
            <a:off x="557882" y="2534469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1"/>
          <p:cNvSpPr/>
          <p:nvPr/>
        </p:nvSpPr>
        <p:spPr>
          <a:xfrm>
            <a:off x="656704" y="2594446"/>
            <a:ext cx="109679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1"/>
          <p:cNvSpPr/>
          <p:nvPr/>
        </p:nvSpPr>
        <p:spPr>
          <a:xfrm>
            <a:off x="905600" y="2495375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Google Gemini 3.5 Flash (per generare title image nella presentazione)</a:t>
            </a:r>
            <a:endParaRPr/>
          </a:p>
        </p:txBody>
      </p:sp>
      <p:sp>
        <p:nvSpPr>
          <p:cNvPr id="428" name="Google Shape;428;p11"/>
          <p:cNvSpPr/>
          <p:nvPr/>
        </p:nvSpPr>
        <p:spPr>
          <a:xfrm>
            <a:off x="557882" y="2849240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1"/>
          <p:cNvSpPr/>
          <p:nvPr/>
        </p:nvSpPr>
        <p:spPr>
          <a:xfrm>
            <a:off x="647774" y="2909218"/>
            <a:ext cx="132993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1"/>
          <p:cNvSpPr/>
          <p:nvPr/>
        </p:nvSpPr>
        <p:spPr>
          <a:xfrm>
            <a:off x="557882" y="3164012"/>
            <a:ext cx="238125" cy="238125"/>
          </a:xfrm>
          <a:prstGeom prst="ellipse">
            <a:avLst/>
          </a:prstGeom>
          <a:solidFill>
            <a:srgbClr val="0D9488">
              <a:alpha val="7843"/>
            </a:srgbClr>
          </a:solidFill>
          <a:ln cap="flat" cmpd="sng" w="9525">
            <a:solidFill>
              <a:srgbClr val="0D948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11"/>
          <p:cNvSpPr/>
          <p:nvPr/>
        </p:nvSpPr>
        <p:spPr>
          <a:xfrm>
            <a:off x="646881" y="3223989"/>
            <a:ext cx="135218" cy="11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720"/>
              <a:buFont typeface="Inter"/>
              <a:buNone/>
            </a:pPr>
            <a:r>
              <a:rPr b="1" i="0" lang="en-US" sz="720" u="none" cap="none" strike="noStrike">
                <a:solidFill>
                  <a:srgbClr val="0D9488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7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1"/>
          <p:cNvSpPr/>
          <p:nvPr/>
        </p:nvSpPr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1"/>
          <p:cNvSpPr/>
          <p:nvPr/>
        </p:nvSpPr>
        <p:spPr>
          <a:xfrm>
            <a:off x="365745" y="4823892"/>
            <a:ext cx="794683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Olga Shopieva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1"/>
          <p:cNvSpPr/>
          <p:nvPr/>
        </p:nvSpPr>
        <p:spPr>
          <a:xfrm>
            <a:off x="6976467" y="4823892"/>
            <a:ext cx="1898176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IBM HR Analytics Employee Attrition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1"/>
          <p:cNvSpPr/>
          <p:nvPr/>
        </p:nvSpPr>
        <p:spPr>
          <a:xfrm>
            <a:off x="8484022" y="4823892"/>
            <a:ext cx="896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·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1"/>
          <p:cNvSpPr/>
          <p:nvPr/>
        </p:nvSpPr>
        <p:spPr>
          <a:xfrm>
            <a:off x="8600405" y="4823892"/>
            <a:ext cx="288354" cy="10001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650"/>
              <a:buFont typeface="Inter"/>
              <a:buNone/>
            </a:pPr>
            <a:r>
              <a:rPr b="0" i="0" lang="en-US" sz="6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9 / 9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37" name="Google Shape;43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6713" y="205643"/>
            <a:ext cx="8410575" cy="29051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38" name="Google Shape;43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713" y="4732772"/>
            <a:ext cx="8410575" cy="204787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1"/>
          <p:cNvSpPr/>
          <p:nvPr/>
        </p:nvSpPr>
        <p:spPr>
          <a:xfrm>
            <a:off x="905600" y="2859600"/>
            <a:ext cx="6678000" cy="2382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Claude Sonnet 5 (per il codice notebook)</a:t>
            </a: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905600" y="3186900"/>
            <a:ext cx="6678000" cy="204900"/>
          </a:xfrm>
          <a:prstGeom prst="roundRect">
            <a:avLst>
              <a:gd fmla="val 50000" name="adj"/>
            </a:avLst>
          </a:prstGeom>
          <a:solidFill>
            <a:srgbClr val="F1F5F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5"/>
              </a:rPr>
              <a:t>replit.com</a:t>
            </a:r>
            <a:r>
              <a:rPr b="1" lang="en-US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 (per creare presentazione Power Point)</a:t>
            </a:r>
            <a:endParaRPr/>
          </a:p>
        </p:txBody>
      </p:sp>
      <p:sp>
        <p:nvSpPr>
          <p:cNvPr id="441" name="Google Shape;441;p11"/>
          <p:cNvSpPr/>
          <p:nvPr/>
        </p:nvSpPr>
        <p:spPr>
          <a:xfrm>
            <a:off x="365250" y="3953348"/>
            <a:ext cx="7464300" cy="441300"/>
          </a:xfrm>
          <a:prstGeom prst="roundRect">
            <a:avLst>
              <a:gd fmla="val 8136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9525">
              <a:srgbClr val="1E3A5F">
                <a:alpha val="588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L'elenco completo degli obiettivi e i prompts sono  disponibile al seguente </a:t>
            </a:r>
            <a:r>
              <a:rPr b="1" lang="en-US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link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