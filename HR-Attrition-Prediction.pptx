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-bold.fntdata"/><Relationship Id="rId14" Type="http://schemas.openxmlformats.org/officeDocument/2006/relationships/font" Target="fonts/Inter-regular.fntdata"/><Relationship Id="rId17" Type="http://schemas.openxmlformats.org/officeDocument/2006/relationships/font" Target="fonts/Inter-boldItalic.fntdata"/><Relationship Id="rId16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://kaggle.com" TargetMode="Externa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L'obiettivo</a:t>
            </a:r>
            <a:r>
              <a:rPr lang="en-US"/>
              <a:t> del mio progetto è prevedere se un dipendente lascerà l’azienda. Ho usato i dati da </a:t>
            </a:r>
            <a:r>
              <a:rPr lang="en-US" u="sng">
                <a:solidFill>
                  <a:schemeClr val="hlink"/>
                </a:solidFill>
                <a:hlinkClick r:id="rId2"/>
              </a:rPr>
              <a:t>kaggle.com</a:t>
            </a:r>
            <a:r>
              <a:rPr lang="en-US"/>
              <a:t>.  Sono i dati fittizi creati dai Data Scientists di IBM.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" name="Google Shape;3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2" name="Google Shape;20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8" name="Google Shape;2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0" name="Google Shape;40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olgashopieva.github.io/" TargetMode="External"/><Relationship Id="rId4" Type="http://schemas.openxmlformats.org/officeDocument/2006/relationships/hyperlink" Target="https://github.com/OlgaShopieva/adabi-hr-attrition-prediction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://replit.com" TargetMode="External"/><Relationship Id="rId6" Type="http://schemas.openxmlformats.org/officeDocument/2006/relationships/hyperlink" Target="https://github.com/OlgaShopieva/adabi-hr-attrition-prediction/blob/main/AI_Usati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814170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62664" y="238051"/>
            <a:ext cx="12474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65745" y="1221209"/>
            <a:ext cx="197527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CLASSIFICAZIONE 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365745" y="1411114"/>
            <a:ext cx="3320519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Progetto ML: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365745" y="1863775"/>
            <a:ext cx="4087170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IBM HR Attrition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365750" y="2441150"/>
            <a:ext cx="43950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Prevedere se un dipendente lascerà l'azienda — un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problema di classificazione applicato al</a:t>
            </a:r>
            <a:r>
              <a:rPr b="0" i="0" lang="en-US" sz="111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dataset IBM HR Analytics.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356025" y="3383375"/>
            <a:ext cx="4522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Gruppo: ADABI 2025-2026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Olga Shopieva </a:t>
            </a:r>
            <a:r>
              <a:rPr b="1" i="0" lang="en-US" sz="151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portfolio GitHub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Progetto disponibile su </a:t>
            </a:r>
            <a:r>
              <a:rPr b="1" i="0" lang="en-US" sz="151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GitHub 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771977" y="3042121"/>
            <a:ext cx="51665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1.233 No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994178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850173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618116" y="4823892"/>
            <a:ext cx="26533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" name="Google Shape;3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" name="Google Shape;3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6020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70850" y="568413"/>
            <a:ext cx="3320525" cy="4105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775028" y="238051"/>
            <a:ext cx="129830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STRUTTURA DEI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365745" y="1205954"/>
            <a:ext cx="87052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65745" y="1400621"/>
            <a:ext cx="1899724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365745" y="1893615"/>
            <a:ext cx="4529651" cy="3330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Ogni riga rappresenta un dipendente con informazioni su età,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stipendio, ruolo, soddisfazione e molto altro.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365261" y="24094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534070" y="25165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46509" y="2579787"/>
            <a:ext cx="123803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946472" y="2520702"/>
            <a:ext cx="973552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anagrafici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946472" y="2682255"/>
            <a:ext cx="208265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Age, Gender, MaritalStatus, Education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65261" y="29777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534070" y="30848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634752" y="3148087"/>
            <a:ext cx="1544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946472" y="3089002"/>
            <a:ext cx="115580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professionali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946472" y="3250555"/>
            <a:ext cx="272083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JobRole, Department, JobLevel, YearsAtCompany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65261" y="35460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534070" y="36531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633785" y="3716387"/>
            <a:ext cx="156887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946472" y="3657302"/>
            <a:ext cx="168873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Soddisfazione e stipendio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946472" y="3818855"/>
            <a:ext cx="235352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JobSatisfaction, MonthlyIncome, OverTime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754389" y="861492"/>
            <a:ext cx="4024312" cy="1343025"/>
          </a:xfrm>
          <a:prstGeom prst="roundRect">
            <a:avLst>
              <a:gd fmla="val 68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099594" y="1030784"/>
            <a:ext cx="13339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OSSERVAZIONI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941040" y="1262807"/>
            <a:ext cx="165101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600"/>
              <a:buFont typeface="Inter"/>
              <a:buNone/>
            </a:pPr>
            <a:r>
              <a:rPr b="1" i="0" lang="en-US" sz="36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1.470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268693" y="1917129"/>
            <a:ext cx="99570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righe nel dataset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4754835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5448527" y="2449488"/>
            <a:ext cx="55564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COLONNE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5434113" y="2640434"/>
            <a:ext cx="58447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835118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7302780" y="2449488"/>
            <a:ext cx="1007700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VALORI MANCANTI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7637785" y="2640434"/>
            <a:ext cx="337691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313807"/>
            <a:ext cx="4024312" cy="105251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76" name="Google Shape;76;p4"/>
          <p:cNvSpPr/>
          <p:nvPr/>
        </p:nvSpPr>
        <p:spPr>
          <a:xfrm>
            <a:off x="4937671" y="3451920"/>
            <a:ext cx="112649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VARIABILE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937671" y="3615333"/>
            <a:ext cx="197992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Attrition (Yes / No)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37671" y="3925044"/>
            <a:ext cx="54267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No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937671" y="4051102"/>
            <a:ext cx="109776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84% · 1.233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20978" y="3925044"/>
            <a:ext cx="579053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Yes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920978" y="4051102"/>
            <a:ext cx="906028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16% · 237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6977583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485138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8601521" y="4823892"/>
            <a:ext cx="28690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88" name="Google Shape;8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"/>
          <p:cNvSpPr/>
          <p:nvPr/>
        </p:nvSpPr>
        <p:spPr>
          <a:xfrm>
            <a:off x="13" y="-42775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6810301" y="238051"/>
            <a:ext cx="12524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PREPARAZIONE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65745" y="1270695"/>
            <a:ext cx="178180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PULIZIA DELLE FEATURE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65745" y="1465362"/>
            <a:ext cx="2899901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Colonne eliminate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65745" y="1787203"/>
            <a:ext cx="2478025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 motivazioni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365745" y="2224236"/>
            <a:ext cx="4805162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eliminate le colonne non informative per evitare rumore e data leakage.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365261" y="2508796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507653" y="2600771"/>
            <a:ext cx="88068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Valori costanti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07653" y="2753320"/>
            <a:ext cx="219970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EmployeeCount, Over18, StandardHours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365261" y="3016969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507653" y="3108945"/>
            <a:ext cx="1659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Identificativo (data leakage)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507653" y="3261494"/>
            <a:ext cx="100692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EmployeeNumber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365261" y="3525143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507653" y="3617119"/>
            <a:ext cx="184322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Ridondanti con MonthlyIncome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507653" y="3769668"/>
            <a:ext cx="194770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DailyRate, HourlyRate, MonthlyRate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54389" y="1240222"/>
            <a:ext cx="4024312" cy="1671638"/>
          </a:xfrm>
          <a:prstGeom prst="roundRect">
            <a:avLst>
              <a:gd fmla="val 547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988198" y="1413272"/>
            <a:ext cx="139542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prima e dopo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865510" y="1817489"/>
            <a:ext cx="747474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5788979" y="2387129"/>
            <a:ext cx="90061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colonne originali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6746528" y="201729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973662" y="1817489"/>
            <a:ext cx="753472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28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996310" y="2387129"/>
            <a:ext cx="7081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feature finali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04071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6407348" y="2639169"/>
            <a:ext cx="99096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colonne eliminate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721608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3" name="Google Shape;12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016039"/>
            <a:ext cx="4024312" cy="9715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124" name="Google Shape;124;p5"/>
          <p:cNvSpPr/>
          <p:nvPr/>
        </p:nvSpPr>
        <p:spPr>
          <a:xfrm>
            <a:off x="4937671" y="3153073"/>
            <a:ext cx="160302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TRASFORMAZIONE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117087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4756242" y="3520455"/>
            <a:ext cx="138188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"Yes" / "No"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5300116" y="3753073"/>
            <a:ext cx="29406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testo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139532" y="347588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377438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468480" y="3520455"/>
            <a:ext cx="4779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 / 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454646" y="3753073"/>
            <a:ext cx="50562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numerico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976765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848431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8600703" y="4823892"/>
            <a:ext cx="28796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8" name="Google Shape;13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7751" y="1398687"/>
            <a:ext cx="3557588" cy="2333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9" name="Google Shape;13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730603" y="238051"/>
            <a:ext cx="135605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ESPLORATIVA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365745" y="1362075"/>
            <a:ext cx="20931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ANALISI ESPLORATIVA (EDA)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365745" y="1556742"/>
            <a:ext cx="3755454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Chi lascia l'azienda?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365745" y="1993776"/>
            <a:ext cx="4326017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Tre pattern emergono con chiarezza dall'analisi del training set.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65261" y="2279712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35037" y="2385789"/>
            <a:ext cx="13304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Eta e reddito piu bassi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35037" y="2543473"/>
            <a:ext cx="46868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 dipendenti che partono tendono ad essere piu giovani e con MonthlyIncome inferiore.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365261" y="2839380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35037" y="2945457"/>
            <a:ext cx="1652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Straordinario come segnale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35037" y="3103141"/>
            <a:ext cx="396324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OverTime = Yes e fortemente associato a un tasso di Attrition piu elevato.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365261" y="3399048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535037" y="3505126"/>
            <a:ext cx="114971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Correlazioni deboli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535037" y="3662809"/>
            <a:ext cx="447615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Nessuna variabile numerica ha |r| &gt; 0.20: necessaria la combinazione di piu fattori.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4754389" y="649784"/>
            <a:ext cx="4024312" cy="3929063"/>
          </a:xfrm>
          <a:prstGeom prst="roundRect">
            <a:avLst>
              <a:gd fmla="val 232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4988198" y="823689"/>
            <a:ext cx="167829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con Attrition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988198" y="995511"/>
            <a:ext cx="212028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Correlazione di Pearson (valori numerici)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4988198" y="1221804"/>
            <a:ext cx="140152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CORRELAZIONE POSITIVA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988198" y="1389757"/>
            <a:ext cx="105442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DistanceFromHome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6359835" y="140382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360356" y="1403821"/>
            <a:ext cx="7810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8178277" y="1389757"/>
            <a:ext cx="36661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4988198" y="1554287"/>
            <a:ext cx="12510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NumCompaniesWorked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359835" y="156835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6358979" y="1568351"/>
            <a:ext cx="4381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8181179" y="1554287"/>
            <a:ext cx="36371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+0.05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4988198" y="1780580"/>
            <a:ext cx="1440314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NEGATIVA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4988198" y="1948532"/>
            <a:ext cx="10069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TotalWorkingYears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6359835" y="196259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6360430" y="1962596"/>
            <a:ext cx="169068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8232257" y="194853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4988198" y="2113062"/>
            <a:ext cx="2588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Age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6359835" y="212712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6360840" y="2127126"/>
            <a:ext cx="167163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8232257" y="211306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4988198" y="2277591"/>
            <a:ext cx="124045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YearsWithCurrManager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359835" y="229165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359091" y="2291655"/>
            <a:ext cx="1547813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8239028" y="2277591"/>
            <a:ext cx="30586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-0.17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4988198" y="2442121"/>
            <a:ext cx="86094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JobInvolvement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359835" y="245618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6358979" y="2456185"/>
            <a:ext cx="1147763" cy="76200"/>
          </a:xfrm>
          <a:prstGeom prst="roundRect">
            <a:avLst>
              <a:gd fmla="val 36000" name="adj"/>
            </a:avLst>
          </a:prstGeom>
          <a:solidFill>
            <a:srgbClr val="4755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8232644" y="2442121"/>
            <a:ext cx="3122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-0.13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6974309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848186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8598247" y="4823892"/>
            <a:ext cx="2911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7" name="Google Shape;19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8" name="Google Shape;19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6966347" y="238051"/>
            <a:ext cx="104958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365745" y="664666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365745" y="823317"/>
            <a:ext cx="362969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Preparazione dei dati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365745" y="1199406"/>
            <a:ext cx="379995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Preparazione dei dati per i modelli di Machine Learning.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365745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553789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83047" y="1687860"/>
            <a:ext cx="135895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010469" y="1625947"/>
            <a:ext cx="10758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Split stratificato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1010469" y="1813173"/>
            <a:ext cx="281380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80% training (1.176 righe) e 20% test (294 righe).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1010469" y="1975991"/>
            <a:ext cx="15111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stratify=y · random_state=42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4663418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4851425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4967213" y="1687860"/>
            <a:ext cx="17091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5308104" y="1625947"/>
            <a:ext cx="123435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One-Hot Encoding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5308104" y="1813173"/>
            <a:ext cx="282396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variabili categoriche trasformate in colonne 0/1.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5308104" y="1975991"/>
            <a:ext cx="111285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28 → 41 feature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365745" y="3120293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553789" y="3253457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668238" y="3329211"/>
            <a:ext cx="174300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1010469" y="3267298"/>
            <a:ext cx="1249836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Standardizzazione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1010469" y="3454524"/>
            <a:ext cx="275179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StandardScaler: media 0, deviazione standard 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1010469" y="3617342"/>
            <a:ext cx="222544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Fondamentale per la Regressione Logistica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1" name="Google Shape;23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18" y="3120293"/>
            <a:ext cx="4114800" cy="1457325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232" name="Google Shape;232;p7"/>
          <p:cNvSpPr/>
          <p:nvPr/>
        </p:nvSpPr>
        <p:spPr>
          <a:xfrm>
            <a:off x="4846662" y="3248695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FFFFFF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4958953" y="3324448"/>
            <a:ext cx="179911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5303341" y="3262536"/>
            <a:ext cx="17106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class_weight="balanced"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5303341" y="3449762"/>
            <a:ext cx="3839230" cy="251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Compensa lo sbilanciamento 84% / 16% dando piu peso alla classe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6978700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848625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602638" y="4823892"/>
            <a:ext cx="28545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1" name="Google Shape;2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42" name="Google Shape;2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6917531" y="238051"/>
            <a:ext cx="11130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365745" y="1197248"/>
            <a:ext cx="85504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MODELLO 1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365745" y="1355899"/>
            <a:ext cx="3241677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365745" y="1696864"/>
            <a:ext cx="4003104" cy="2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Modello semplice e interpretabile, buon punto di partenza per la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classificazione binaria.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365261" y="2205224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553343" y="2348285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53380" y="2564904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663029" y="2625998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3716685" y="2625998"/>
            <a:ext cx="54480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0.459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553380" y="2849389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663029" y="2910483"/>
            <a:ext cx="582632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0.5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3713559" y="2910483"/>
            <a:ext cx="54887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0.480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553380" y="3133874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667792" y="3199730"/>
            <a:ext cx="105413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3705299" y="3199730"/>
            <a:ext cx="55341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F1: 0.527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365261" y="3612505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0D9488">
              <a:alpha val="5882"/>
            </a:srgbClr>
          </a:solidFill>
          <a:ln cap="flat" cmpd="sng" w="9525">
            <a:solidFill>
              <a:srgbClr val="0D9488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507653" y="3704183"/>
            <a:ext cx="99415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Scelta: soglia 0.6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507653" y="3849812"/>
            <a:ext cx="28266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Miglior F1 (0.527) con buon equilibrio Precision / 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4754835" y="1277764"/>
            <a:ext cx="88116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MODELLO 2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4754835" y="1436415"/>
            <a:ext cx="2221185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4754835" y="1777380"/>
            <a:ext cx="520082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300 alberi decisionali, piu complesso ma capace di catturare interazioni non lineari.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4754389" y="2124782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4942433" y="2267843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4942508" y="2484462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1E3A5F">
              <a:alpha val="5882"/>
            </a:srgbClr>
          </a:solidFill>
          <a:ln cap="flat" cmpd="sng" w="9525">
            <a:solidFill>
              <a:srgbClr val="1E3A5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5056882" y="2550319"/>
            <a:ext cx="105519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Soglia 0.2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8106221" y="2550319"/>
            <a:ext cx="53813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F1: 0.531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4942508" y="2778472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5052120" y="2839566"/>
            <a:ext cx="58398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0.3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8109124" y="2839566"/>
            <a:ext cx="5405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0.472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4942508" y="3062957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5052120" y="3124051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8103468" y="3124051"/>
            <a:ext cx="54790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0.420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754389" y="3532063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1E3A5F">
              <a:alpha val="5098"/>
            </a:srgbClr>
          </a:solidFill>
          <a:ln cap="flat" cmpd="sng" w="9525">
            <a:solidFill>
              <a:srgbClr val="1E3A5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4896743" y="3623742"/>
            <a:ext cx="99541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Scelta: soglia 0.2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4896743" y="3769370"/>
            <a:ext cx="34613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RF e piu conservativo: serve soglia bassa per un recall comparabile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6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3" name="Google Shape;2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4" name="Google Shape;29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"/>
          <p:cNvSpPr/>
          <p:nvPr/>
        </p:nvSpPr>
        <p:spPr>
          <a:xfrm>
            <a:off x="0" y="-31960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7282681" y="238051"/>
            <a:ext cx="63835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365745" y="664666"/>
            <a:ext cx="18151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365745" y="807913"/>
            <a:ext cx="3479073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365745" y="1168598"/>
            <a:ext cx="4433396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Regressione Logistica ottiene il miglior equilibrio complessivo.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366713" y="1448209"/>
            <a:ext cx="8410575" cy="125730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371475" y="1452972"/>
            <a:ext cx="8401050" cy="27622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553343" y="1538883"/>
            <a:ext cx="6114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2999043" y="1538883"/>
            <a:ext cx="70587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189731" y="1538883"/>
            <a:ext cx="6730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PRECISION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5453167" y="1538883"/>
            <a:ext cx="4947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6566379" y="1538883"/>
            <a:ext cx="61687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F1-SCORE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7749027" y="1538883"/>
            <a:ext cx="60023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ROC-AUC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371475" y="1728713"/>
            <a:ext cx="8401050" cy="490537"/>
          </a:xfrm>
          <a:prstGeom prst="rect">
            <a:avLst/>
          </a:prstGeom>
          <a:solidFill>
            <a:srgbClr val="0D9488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553343" y="1847031"/>
            <a:ext cx="1464499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553343" y="2003450"/>
            <a:ext cx="1027628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· vincitore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996732" y="1856556"/>
            <a:ext cx="71042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81.3%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148338" y="1856556"/>
            <a:ext cx="75579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43.5%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5339983" y="1856556"/>
            <a:ext cx="7211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57.4%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6489944" y="1856556"/>
            <a:ext cx="769821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49.5%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7757056" y="1856556"/>
            <a:ext cx="58418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0.811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53343" y="2335188"/>
            <a:ext cx="10143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553343" y="2491606"/>
            <a:ext cx="1100666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300 alberi · soglia 0.2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2999623" y="2344713"/>
            <a:ext cx="704716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77.6%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4150359" y="2344713"/>
            <a:ext cx="75182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38.3%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5322957" y="2344713"/>
            <a:ext cx="755213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66.0%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6489859" y="2344713"/>
            <a:ext cx="76991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48.4%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7720887" y="2344713"/>
            <a:ext cx="65644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0.782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2214823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3831394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6981304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848885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8605242" y="4823892"/>
            <a:ext cx="28206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7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9" name="Google Shape;3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0" name="Google Shape;34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1728713"/>
            <a:ext cx="8401050" cy="490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1" name="Google Shape;34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3350" y="2765975"/>
            <a:ext cx="2797674" cy="1906325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pic>
      <p:pic>
        <p:nvPicPr>
          <p:cNvPr id="343" name="Google Shape;343;p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569600" y="2765975"/>
            <a:ext cx="5076576" cy="1906325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7089204" y="238051"/>
            <a:ext cx="88987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365745" y="1241003"/>
            <a:ext cx="106284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365745" y="1409998"/>
            <a:ext cx="1729948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e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365745" y="1711672"/>
            <a:ext cx="251527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prossimi passi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365261" y="2135088"/>
            <a:ext cx="4024312" cy="112395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553343" y="2278112"/>
            <a:ext cx="13524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COSA ABBIAMO FATTO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553343" y="2463254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717872" y="2463254"/>
            <a:ext cx="280093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Esplorazione, pulizia e analisi del dataset IBM HR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553343" y="2641476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717872" y="2641476"/>
            <a:ext cx="3136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Split stratificato, One-Hot Encoding, standardizzazione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53343" y="2819698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717872" y="2819698"/>
            <a:ext cx="296403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Confronto Regressione Logistica vs. Random Forest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553343" y="2997919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717872" y="2997919"/>
            <a:ext cx="25646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Feature importance: reddito, eta, straordinari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365261" y="3362734"/>
            <a:ext cx="4024312" cy="638175"/>
          </a:xfrm>
          <a:prstGeom prst="roundRect">
            <a:avLst>
              <a:gd fmla="val 14328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553343" y="3478857"/>
            <a:ext cx="123310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LIMITI DEL 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553343" y="3643387"/>
            <a:ext cx="4362100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Dataset piccolo (1.470) e sbilanciato: la classe Yes ha pochi esempi, il recall sulla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minoranza rimane il limite principale.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4754835" y="1167333"/>
            <a:ext cx="11322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SVILUPPI FUTURI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4754389" y="1388343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4924127" y="1495127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5018187" y="1550343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5289872" y="1504652"/>
            <a:ext cx="132074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Tuning iperparametri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5289872" y="1664047"/>
            <a:ext cx="4329113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GridSearchCV o RandomizedSearchCV per ottimizzare n_estimators, max_depth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 altri.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4754389" y="2115964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4924127" y="2222748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5009257" y="2277963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5289872" y="2232273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Modelli piu avanzati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0"/>
          <p:cNvSpPr/>
          <p:nvPr/>
        </p:nvSpPr>
        <p:spPr>
          <a:xfrm>
            <a:off x="5289872" y="2391668"/>
            <a:ext cx="3806339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Gradient Boosting, XGBoost per migliorare le performance sulla classe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4754389" y="2842766"/>
            <a:ext cx="4024312" cy="504825"/>
          </a:xfrm>
          <a:prstGeom prst="roundRect">
            <a:avLst>
              <a:gd fmla="val 1449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4924127" y="2950369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0"/>
          <p:cNvSpPr/>
          <p:nvPr/>
        </p:nvSpPr>
        <p:spPr>
          <a:xfrm>
            <a:off x="5008364" y="3005584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5289872" y="2959894"/>
            <a:ext cx="126783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engineering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5289872" y="3119289"/>
            <a:ext cx="388169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Nuove variabili derivate (es. rapporto anni nel ruolo vs. anzianita totale).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7" name="Google Shape;38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441167"/>
            <a:ext cx="4024312" cy="6286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388" name="Google Shape;388;p10"/>
          <p:cNvSpPr/>
          <p:nvPr/>
        </p:nvSpPr>
        <p:spPr>
          <a:xfrm>
            <a:off x="4919365" y="3552527"/>
            <a:ext cx="1061003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Applicazione HR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4919365" y="3717057"/>
            <a:ext cx="4822671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Sistema di early warning per identificare i dipendenti a rischio di abbandono e supportare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la retention.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0"/>
          <p:cNvSpPr/>
          <p:nvPr/>
        </p:nvSpPr>
        <p:spPr>
          <a:xfrm>
            <a:off x="6976542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/>
          <p:nvPr/>
        </p:nvSpPr>
        <p:spPr>
          <a:xfrm>
            <a:off x="8484096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8600480" y="4823892"/>
            <a:ext cx="28825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8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5" name="Google Shape;39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6" name="Google Shape;39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1"/>
          <p:cNvSpPr/>
          <p:nvPr/>
        </p:nvSpPr>
        <p:spPr>
          <a:xfrm>
            <a:off x="7078489" y="238051"/>
            <a:ext cx="9038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STRUMENTI AI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1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/>
          <p:nvPr/>
        </p:nvSpPr>
        <p:spPr>
          <a:xfrm>
            <a:off x="365745" y="1450925"/>
            <a:ext cx="20161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INTELLIGENZA ARTIFICIALE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365745" y="1619920"/>
            <a:ext cx="182688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AI usata in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/>
          <p:nvPr/>
        </p:nvSpPr>
        <p:spPr>
          <a:xfrm>
            <a:off x="365745" y="1921594"/>
            <a:ext cx="2768531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questo progetto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365250" y="2371800"/>
            <a:ext cx="7464300" cy="1246800"/>
          </a:xfrm>
          <a:prstGeom prst="roundRect">
            <a:avLst>
              <a:gd fmla="val 6443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1"/>
          <p:cNvSpPr/>
          <p:nvPr/>
        </p:nvSpPr>
        <p:spPr>
          <a:xfrm>
            <a:off x="557882" y="2534469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656704" y="2594446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905600" y="2495375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Google Gemini 3.5 Flash (per generare title image nella presentazione)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557882" y="2849240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1"/>
          <p:cNvSpPr/>
          <p:nvPr/>
        </p:nvSpPr>
        <p:spPr>
          <a:xfrm>
            <a:off x="647774" y="2909218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557882" y="3164012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646881" y="3223989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1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1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1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9 / 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4" name="Google Shape;42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5" name="Google Shape;42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1"/>
          <p:cNvSpPr/>
          <p:nvPr/>
        </p:nvSpPr>
        <p:spPr>
          <a:xfrm>
            <a:off x="905600" y="2859600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Claude Sonnet 5 (per il codice notebook)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1"/>
          <p:cNvSpPr/>
          <p:nvPr/>
        </p:nvSpPr>
        <p:spPr>
          <a:xfrm>
            <a:off x="905600" y="3186900"/>
            <a:ext cx="6678000" cy="2049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replit.com</a:t>
            </a: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 (per creare presentazione Power Point)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1"/>
          <p:cNvSpPr/>
          <p:nvPr/>
        </p:nvSpPr>
        <p:spPr>
          <a:xfrm>
            <a:off x="365250" y="3953348"/>
            <a:ext cx="7464300" cy="44130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L'elenco completo degli obiettivi e i prompts sono  disponibile al seguente </a:t>
            </a:r>
            <a:r>
              <a:rPr b="1" i="0" lang="en-US" sz="14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